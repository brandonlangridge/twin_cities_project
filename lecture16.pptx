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94" r:id="rId3"/>
    <p:sldId id="292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91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6" r:id="rId27"/>
    <p:sldId id="290" r:id="rId28"/>
    <p:sldId id="297" r:id="rId29"/>
    <p:sldId id="298" r:id="rId3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FFD5"/>
    <a:srgbClr val="FFA7A7"/>
    <a:srgbClr val="FF5050"/>
    <a:srgbClr val="FFCC66"/>
    <a:srgbClr val="FF9966"/>
    <a:srgbClr val="3366FF"/>
    <a:srgbClr val="9FFFCA"/>
    <a:srgbClr val="6D79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1" autoAdjust="0"/>
    <p:restoredTop sz="94660"/>
  </p:normalViewPr>
  <p:slideViewPr>
    <p:cSldViewPr>
      <p:cViewPr varScale="1">
        <p:scale>
          <a:sx n="73" d="100"/>
          <a:sy n="73" d="100"/>
        </p:scale>
        <p:origin x="582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16546-4DA4-42F9-A649-A9E1A7FE1042}" type="datetimeFigureOut">
              <a:rPr lang="en-GB"/>
              <a:pPr>
                <a:defRPr/>
              </a:pPr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A63B8-4F48-4459-AFE5-07C3292651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942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EEC53-C35F-4E8C-8939-7ABA7F51A236}" type="datetimeFigureOut">
              <a:rPr lang="en-GB"/>
              <a:pPr>
                <a:defRPr/>
              </a:pPr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278CA9-D3B9-4C1D-9205-7920E64BDC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875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8BC6D6-03DC-4AEB-A864-733AFF9232E4}" type="datetimeFigureOut">
              <a:rPr lang="en-GB"/>
              <a:pPr>
                <a:defRPr/>
              </a:pPr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85802-F3B3-457F-A177-CFC6B9D6D3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438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6DF07B-CA9A-4448-8B82-D12ABB89432C}" type="datetimeFigureOut">
              <a:rPr lang="en-GB"/>
              <a:pPr>
                <a:defRPr/>
              </a:pPr>
              <a:t>02/03/2026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FC4BE-8965-4CB2-B0BF-9DB208C3E6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828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173D4C-3E99-47E8-8F4B-EC43B324E76A}" type="datetimeFigureOut">
              <a:rPr lang="en-GB"/>
              <a:pPr>
                <a:defRPr/>
              </a:pPr>
              <a:t>02/03/2026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F5A0DC-49A3-458D-A434-A785886A20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077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52E833-4373-4681-BC88-1B0AF9D1F965}" type="datetimeFigureOut">
              <a:rPr lang="en-GB"/>
              <a:pPr>
                <a:defRPr/>
              </a:pPr>
              <a:t>02/03/2026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E1678-311E-4995-95CB-913D253C98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92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72291-8EB3-4BB7-9826-F894DC7BC3B1}" type="datetimeFigureOut">
              <a:rPr lang="en-GB"/>
              <a:pPr>
                <a:defRPr/>
              </a:pPr>
              <a:t>02/03/2026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173E7D-5793-48C9-9CCB-C65058814E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371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EDA3E6-38F8-45D2-A273-598E5C651B0F}" type="datetimeFigureOut">
              <a:rPr lang="en-GB"/>
              <a:pPr>
                <a:defRPr/>
              </a:pPr>
              <a:t>02/03/2026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40F20-CECD-437D-BF87-2C8717B786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282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FCB71C-C44B-421B-A815-0516FE296CCF}" type="datetimeFigureOut">
              <a:rPr lang="en-GB"/>
              <a:pPr>
                <a:defRPr/>
              </a:pPr>
              <a:t>02/03/2026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FE37C2-0B9D-4C2B-9A73-1C6CBE34BE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15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CFEE74-1198-440A-9705-264852863277}" type="datetimeFigureOut">
              <a:rPr lang="en-GB"/>
              <a:pPr>
                <a:defRPr/>
              </a:pPr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22A5C-88BF-4BD5-A605-CD1F2B0827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4215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5D89A-2366-4F11-8B00-3AD581A129F3}" type="datetimeFigureOut">
              <a:rPr lang="en-GB"/>
              <a:pPr>
                <a:defRPr/>
              </a:pPr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08B41-A646-4AB5-B3F0-CA611803E7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015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E5FA744-4517-4713-A1F4-29DCF3FFAD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276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45655C0-7DC4-4AAF-B221-5AA858B7D1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441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B71DB93-24AC-4615-ABCE-10932B8CFD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39177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6FA3A43-DD53-44D1-B757-81852BC759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2633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BEDF84C-3385-45F3-B5E7-4B9BA716B9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495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88EFA77-19C7-4389-86B2-EB247665A5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3063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48B3C9D-4BA1-45F2-B2A3-F4626380B9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3815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70434A7-E3BB-4F78-B29E-7EA7A649E5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1024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48D7C08-B3EF-4486-A2D5-60305D6E32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28342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CB5E602-AAAE-4898-813C-A9A82854D0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0126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2949630-F09D-4DBC-9C73-437CC7810E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504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CB8CF2B-B9FE-4348-B00C-EC83B0FF6FDE}" type="datetimeFigureOut">
              <a:rPr lang="en-GB"/>
              <a:pPr>
                <a:defRPr/>
              </a:pPr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F3686F6-C196-4243-A83F-7D5C4A0475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A3E93FB-4AE7-46CD-9F2A-5F3466DF32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uk.php.net/manual/en/function.error-reporting.php" TargetMode="External"/><Relationship Id="rId2" Type="http://schemas.openxmlformats.org/officeDocument/2006/relationships/hyperlink" Target="http://php.net/manual/en/migration51.errorcheck.php" TargetMode="Externa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function.fopen" TargetMode="Externa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Murphy's_law" TargetMode="Externa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5" Type="http://schemas.openxmlformats.org/officeDocument/2006/relationships/hyperlink" Target="http://www.cems.uwe.ac.uk/~p-chatterjee/php/get_stations4+error.php" TargetMode="External"/><Relationship Id="rId4" Type="http://schemas.openxmlformats.org/officeDocument/2006/relationships/hyperlink" Target="http://isa.cems.uwe.ac.uk/~p-chatterjee/php/get_stations4.php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14954" y="228601"/>
            <a:ext cx="8785225" cy="1470025"/>
          </a:xfrm>
        </p:spPr>
        <p:txBody>
          <a:bodyPr/>
          <a:lstStyle/>
          <a:p>
            <a:pPr algn="ctr"/>
            <a:r>
              <a:rPr lang="en-GB" sz="3200" dirty="0">
                <a:solidFill>
                  <a:schemeClr val="accent2"/>
                </a:solidFill>
                <a:latin typeface="Calibri" pitchFamily="34" charset="0"/>
              </a:rPr>
              <a:t> </a:t>
            </a:r>
            <a:r>
              <a:rPr lang="en-GB" sz="3200" dirty="0">
                <a:solidFill>
                  <a:srgbClr val="C00000"/>
                </a:solidFill>
                <a:latin typeface="Calibri" pitchFamily="34" charset="0"/>
              </a:rPr>
              <a:t>UFCFV4-30-2</a:t>
            </a:r>
            <a:br>
              <a:rPr lang="en-GB" sz="3200" dirty="0">
                <a:solidFill>
                  <a:srgbClr val="C00000"/>
                </a:solidFill>
                <a:latin typeface="Calibri" pitchFamily="34" charset="0"/>
              </a:rPr>
            </a:br>
            <a:r>
              <a:rPr lang="en-GB" sz="3200" dirty="0">
                <a:solidFill>
                  <a:srgbClr val="C00000"/>
                </a:solidFill>
                <a:latin typeface="Calibri" pitchFamily="34" charset="0"/>
              </a:rPr>
              <a:t>Data, Schemas &amp; Applications</a:t>
            </a:r>
            <a:endParaRPr lang="en-US" sz="320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86000" y="5382322"/>
            <a:ext cx="76200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None/>
              <a:defRPr sz="3200">
                <a:solidFill>
                  <a:srgbClr val="0099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ctr" eaLnBrk="1" hangingPunct="1"/>
            <a:r>
              <a:rPr lang="en-GB" kern="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PHP Errors &amp; Exceptions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688" y="1628800"/>
            <a:ext cx="5616624" cy="37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411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 txBox="1">
            <a:spLocks noChangeArrowheads="1"/>
          </p:cNvSpPr>
          <p:nvPr/>
        </p:nvSpPr>
        <p:spPr bwMode="auto">
          <a:xfrm>
            <a:off x="1774825" y="476250"/>
            <a:ext cx="8229600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GB" sz="3200" dirty="0">
                <a:solidFill>
                  <a:srgbClr val="3366FF"/>
                </a:solidFill>
                <a:cs typeface="Calibri" pitchFamily="34" charset="0"/>
              </a:rPr>
              <a:t>Why handle errors/exceptions?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79651" y="1412875"/>
            <a:ext cx="7561263" cy="49545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400" dirty="0"/>
              <a:t>Produce more </a:t>
            </a:r>
            <a:r>
              <a:rPr lang="en-GB" sz="2400" b="1" dirty="0">
                <a:solidFill>
                  <a:srgbClr val="C00000"/>
                </a:solidFill>
              </a:rPr>
              <a:t>stable code </a:t>
            </a:r>
            <a:r>
              <a:rPr lang="en-GB" sz="2400" dirty="0"/>
              <a:t>- programs run longer without failing in the “wild”</a:t>
            </a:r>
          </a:p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400" dirty="0"/>
              <a:t>Code is easier to </a:t>
            </a:r>
            <a:r>
              <a:rPr lang="en-GB" sz="2400" b="1" dirty="0">
                <a:solidFill>
                  <a:srgbClr val="C00000"/>
                </a:solidFill>
              </a:rPr>
              <a:t>debug</a:t>
            </a:r>
          </a:p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400" dirty="0"/>
              <a:t>Code is easier to </a:t>
            </a:r>
            <a:r>
              <a:rPr lang="en-GB" sz="2400" b="1" dirty="0">
                <a:solidFill>
                  <a:srgbClr val="C00000"/>
                </a:solidFill>
              </a:rPr>
              <a:t>maintain</a:t>
            </a:r>
          </a:p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400" dirty="0"/>
              <a:t>Logging allows for </a:t>
            </a:r>
            <a:r>
              <a:rPr lang="en-GB" sz="2400" b="1" dirty="0">
                <a:solidFill>
                  <a:srgbClr val="C00000"/>
                </a:solidFill>
              </a:rPr>
              <a:t>traceability</a:t>
            </a:r>
            <a:r>
              <a:rPr lang="en-GB" sz="2400" dirty="0"/>
              <a:t> – improves security</a:t>
            </a:r>
          </a:p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400" b="1" dirty="0">
                <a:solidFill>
                  <a:srgbClr val="C00000"/>
                </a:solidFill>
              </a:rPr>
              <a:t>Traps</a:t>
            </a:r>
            <a:r>
              <a:rPr lang="en-GB" sz="2400" dirty="0"/>
              <a:t> fatal events </a:t>
            </a:r>
            <a:r>
              <a:rPr lang="en-GB" sz="2400" b="1" dirty="0">
                <a:solidFill>
                  <a:srgbClr val="C00000"/>
                </a:solidFill>
              </a:rPr>
              <a:t>gracefully</a:t>
            </a:r>
            <a:r>
              <a:rPr lang="en-GB" sz="2400" dirty="0"/>
              <a:t> </a:t>
            </a:r>
          </a:p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400" dirty="0"/>
              <a:t>Improves the </a:t>
            </a:r>
            <a:r>
              <a:rPr lang="en-GB" sz="2400" b="1" dirty="0">
                <a:solidFill>
                  <a:srgbClr val="C00000"/>
                </a:solidFill>
              </a:rPr>
              <a:t>life</a:t>
            </a:r>
            <a:r>
              <a:rPr lang="en-GB" sz="2400" dirty="0"/>
              <a:t> of users/programmers</a:t>
            </a:r>
          </a:p>
          <a:p>
            <a:pPr>
              <a:defRPr/>
            </a:pPr>
            <a:endParaRPr lang="en-GB" sz="2400" dirty="0"/>
          </a:p>
          <a:p>
            <a:pPr>
              <a:defRPr/>
            </a:pPr>
            <a:r>
              <a:rPr lang="en-GB" sz="2800" dirty="0"/>
              <a:t>But ..</a:t>
            </a:r>
          </a:p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400" dirty="0"/>
              <a:t>Can’t account for every eventually ..</a:t>
            </a:r>
            <a:br>
              <a:rPr lang="en-GB" sz="2400" dirty="0"/>
            </a:br>
            <a:r>
              <a:rPr lang="en-GB" sz="2400" dirty="0"/>
              <a:t>.. problem of closure – cost/benefit analysis required</a:t>
            </a:r>
          </a:p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400" dirty="0"/>
              <a:t>Don’t over-do it! e.g. too much logging can slow performance. Find the right balance 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2"/>
          <p:cNvSpPr>
            <a:spLocks noGrp="1"/>
          </p:cNvSpPr>
          <p:nvPr>
            <p:ph idx="1"/>
          </p:nvPr>
        </p:nvSpPr>
        <p:spPr>
          <a:xfrm>
            <a:off x="1992313" y="1196976"/>
            <a:ext cx="8229600" cy="5218113"/>
          </a:xfrm>
        </p:spPr>
        <p:txBody>
          <a:bodyPr/>
          <a:lstStyle/>
          <a:p>
            <a:pPr eaLnBrk="1" hangingPunct="1">
              <a:buFont typeface="Courier New" pitchFamily="49" charset="0"/>
              <a:buChar char="o"/>
              <a:defRPr/>
            </a:pPr>
            <a:r>
              <a:rPr lang="en-GB" sz="28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Basically errors can be of one of two types</a:t>
            </a:r>
          </a:p>
          <a:p>
            <a:pPr marL="0" indent="0" eaLnBrk="1" hangingPunct="1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External Errors (usually resource unavailability)</a:t>
            </a:r>
            <a:br>
              <a:rPr lang="en-GB" sz="2800" dirty="0">
                <a:latin typeface="Calibri" pitchFamily="34" charset="0"/>
                <a:cs typeface="Calibri" pitchFamily="34" charset="0"/>
              </a:rPr>
            </a:br>
            <a:r>
              <a:rPr lang="en-GB" sz="2800" dirty="0">
                <a:latin typeface="Calibri" pitchFamily="34" charset="0"/>
                <a:cs typeface="Calibri" pitchFamily="34" charset="0"/>
              </a:rPr>
              <a:t>	- Logic Errors (a.k.a. Bugs)</a:t>
            </a:r>
          </a:p>
          <a:p>
            <a:pPr marL="0" indent="0" eaLnBrk="1" hangingPunct="1">
              <a:buNone/>
              <a:defRPr/>
            </a:pPr>
            <a:endParaRPr lang="en-GB" sz="2800" dirty="0">
              <a:latin typeface="Calibri" pitchFamily="34" charset="0"/>
              <a:cs typeface="Calibri" pitchFamily="34" charset="0"/>
            </a:endParaRPr>
          </a:p>
          <a:p>
            <a:pPr eaLnBrk="1" hangingPunct="1">
              <a:buFont typeface="Courier New" pitchFamily="49" charset="0"/>
              <a:buChar char="o"/>
              <a:defRPr/>
            </a:pPr>
            <a:r>
              <a:rPr lang="en-GB" sz="28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What about these error types?</a:t>
            </a:r>
          </a:p>
          <a:p>
            <a:pPr marL="0" indent="0" eaLnBrk="1" hangingPunct="1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External Errors will always occur at some point 	or another</a:t>
            </a:r>
            <a:br>
              <a:rPr lang="en-GB" sz="2800" dirty="0">
                <a:latin typeface="Calibri" pitchFamily="34" charset="0"/>
                <a:cs typeface="Calibri" pitchFamily="34" charset="0"/>
              </a:rPr>
            </a:br>
            <a:r>
              <a:rPr lang="en-GB" sz="2800" dirty="0">
                <a:latin typeface="Calibri" pitchFamily="34" charset="0"/>
                <a:cs typeface="Calibri" pitchFamily="34" charset="0"/>
              </a:rPr>
              <a:t>	- External Errors which are not accounted for 	are Logic Errors (of a kind)</a:t>
            </a:r>
            <a:br>
              <a:rPr lang="en-GB" sz="2800" dirty="0">
                <a:latin typeface="Calibri" pitchFamily="34" charset="0"/>
                <a:cs typeface="Calibri" pitchFamily="34" charset="0"/>
              </a:rPr>
            </a:br>
            <a:r>
              <a:rPr lang="en-GB" sz="2800" dirty="0">
                <a:latin typeface="Calibri" pitchFamily="34" charset="0"/>
                <a:cs typeface="Calibri" pitchFamily="34" charset="0"/>
              </a:rPr>
              <a:t>	- </a:t>
            </a:r>
            <a:r>
              <a:rPr lang="en-GB" sz="2800" u="sng" dirty="0">
                <a:latin typeface="Calibri" pitchFamily="34" charset="0"/>
                <a:cs typeface="Calibri" pitchFamily="34" charset="0"/>
              </a:rPr>
              <a:t>Logic Errors are harder to track down</a:t>
            </a: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74825" y="333375"/>
            <a:ext cx="8229600" cy="706438"/>
          </a:xfrm>
          <a:noFill/>
        </p:spPr>
        <p:txBody>
          <a:bodyPr/>
          <a:lstStyle/>
          <a:p>
            <a:pPr eaLnBrk="1" hangingPunct="1"/>
            <a:r>
              <a:rPr lang="en-GB" sz="3200" dirty="0">
                <a:solidFill>
                  <a:srgbClr val="3366FF"/>
                </a:solidFill>
                <a:latin typeface="Calibri" pitchFamily="34" charset="0"/>
                <a:cs typeface="Calibri" pitchFamily="34" charset="0"/>
              </a:rPr>
              <a:t>Error Types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GB" sz="28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Four levels of error severity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 to start with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Strict standard problems (</a:t>
            </a:r>
            <a:r>
              <a:rPr lang="en-GB" sz="2800" i="1" dirty="0">
                <a:latin typeface="Calibri" pitchFamily="34" charset="0"/>
                <a:cs typeface="Calibri" pitchFamily="34" charset="0"/>
                <a:hlinkClick r:id="rId2"/>
              </a:rPr>
              <a:t>E_STRICT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Notices (</a:t>
            </a:r>
            <a:r>
              <a:rPr lang="en-GB" sz="2800" i="1" dirty="0">
                <a:latin typeface="Calibri" pitchFamily="34" charset="0"/>
                <a:cs typeface="Calibri" pitchFamily="34" charset="0"/>
                <a:hlinkClick r:id="rId3"/>
              </a:rPr>
              <a:t>E_NOTICE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Warnings (</a:t>
            </a:r>
            <a:r>
              <a:rPr lang="en-GB" sz="2800" i="1" dirty="0">
                <a:latin typeface="Calibri" pitchFamily="34" charset="0"/>
                <a:cs typeface="Calibri" pitchFamily="34" charset="0"/>
                <a:hlinkClick r:id="rId3"/>
              </a:rPr>
              <a:t>E_WARNING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Errors (</a:t>
            </a:r>
            <a:r>
              <a:rPr lang="en-GB" sz="2800" i="1" dirty="0">
                <a:latin typeface="Calibri" pitchFamily="34" charset="0"/>
                <a:cs typeface="Calibri" pitchFamily="34" charset="0"/>
                <a:hlinkClick r:id="rId3"/>
              </a:rPr>
              <a:t>E_ERROR</a:t>
            </a:r>
            <a:r>
              <a:rPr lang="en-GB" sz="2800" i="1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0" indent="0">
              <a:buNone/>
              <a:defRPr/>
            </a:pPr>
            <a:endParaRPr lang="en-GB" sz="2800" i="1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  <a:defRPr/>
            </a:pPr>
            <a:r>
              <a:rPr lang="en-GB" sz="2800" i="1" dirty="0">
                <a:latin typeface="Calibri" pitchFamily="34" charset="0"/>
                <a:cs typeface="Calibri" pitchFamily="34" charset="0"/>
              </a:rPr>
              <a:t>Others include E_ALL, E_USER_ERROR, E_USER_WARNING, E_USER_NOTICE</a:t>
            </a:r>
            <a:endParaRPr lang="en-GB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sz="3200" dirty="0">
                <a:solidFill>
                  <a:srgbClr val="3366FF"/>
                </a:solidFill>
                <a:latin typeface="Calibri" pitchFamily="34" charset="0"/>
                <a:cs typeface="Calibri" pitchFamily="34" charset="0"/>
              </a:rPr>
              <a:t>PHP’s Internal Handlers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1992313" y="1484313"/>
            <a:ext cx="8229600" cy="4525962"/>
          </a:xfrm>
        </p:spPr>
        <p:txBody>
          <a:bodyPr/>
          <a:lstStyle/>
          <a:p>
            <a:pPr>
              <a:buFont typeface="Courier New" pitchFamily="49" charset="0"/>
              <a:buChar char="o"/>
            </a:pPr>
            <a:r>
              <a:rPr lang="en-GB" sz="28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E_STRICT</a:t>
            </a:r>
            <a:r>
              <a:rPr lang="en-GB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-  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messages that provide suggestions on improving code to reduce ambiguities and make code more portable</a:t>
            </a:r>
          </a:p>
          <a:p>
            <a:pPr>
              <a:buFont typeface="Courier New" pitchFamily="49" charset="0"/>
              <a:buChar char="o"/>
            </a:pPr>
            <a:r>
              <a:rPr lang="en-GB" sz="28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E_NOTICE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 - a runtime message that indicates something that might produce an unexpected result depending on the context</a:t>
            </a:r>
          </a:p>
          <a:p>
            <a:pPr>
              <a:buFont typeface="Courier New" pitchFamily="49" charset="0"/>
              <a:buChar char="o"/>
            </a:pPr>
            <a:r>
              <a:rPr lang="en-GB" sz="28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E_WARNING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 - a non-fatal run time error. Scripts continue to execute </a:t>
            </a:r>
          </a:p>
          <a:p>
            <a:pPr>
              <a:buFont typeface="Courier New" pitchFamily="49" charset="0"/>
              <a:buChar char="o"/>
            </a:pPr>
            <a:r>
              <a:rPr lang="en-GB" sz="28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E_ERROR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 - fatal runtime errors. Scripts stop executing.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sz="3200" dirty="0">
                <a:solidFill>
                  <a:srgbClr val="3366FF"/>
                </a:solidFill>
                <a:latin typeface="Calibri" pitchFamily="34" charset="0"/>
                <a:cs typeface="Calibri" pitchFamily="34" charset="0"/>
              </a:rPr>
              <a:t>PHP’s Internal Handlers (2)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2"/>
          <p:cNvSpPr>
            <a:spLocks noGrp="1"/>
          </p:cNvSpPr>
          <p:nvPr>
            <p:ph idx="1"/>
          </p:nvPr>
        </p:nvSpPr>
        <p:spPr>
          <a:xfrm>
            <a:off x="2038494" y="1268760"/>
            <a:ext cx="8229600" cy="4713288"/>
          </a:xfrm>
        </p:spPr>
        <p:txBody>
          <a:bodyPr/>
          <a:lstStyle/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&lt;?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php</a:t>
            </a:r>
            <a:endParaRPr lang="en-GB" sz="20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// E_NOTICE</a:t>
            </a:r>
          </a:p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$x = $y + 3;</a:t>
            </a:r>
          </a:p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// E_WARNING</a:t>
            </a:r>
          </a:p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fh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fopen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('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thisisnotarealfile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', 'r');</a:t>
            </a:r>
          </a:p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// E_ERROR</a:t>
            </a:r>
          </a:p>
          <a:p>
            <a:pPr marL="0" indent="0">
              <a:buNone/>
            </a:pP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nonExistingFunction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?&gt;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084388" y="4221089"/>
            <a:ext cx="8208962" cy="23034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br>
              <a:rPr lang="en-GB" b="1" dirty="0"/>
            </a:br>
            <a:r>
              <a:rPr lang="en-GB" b="1" dirty="0"/>
              <a:t>Notice</a:t>
            </a:r>
            <a:r>
              <a:rPr lang="en-GB" dirty="0"/>
              <a:t>: Undefined variable: y in </a:t>
            </a:r>
            <a:r>
              <a:rPr lang="en-GB" b="1" dirty="0"/>
              <a:t>J:\xampp\htdocs\error_example1.php</a:t>
            </a:r>
            <a:r>
              <a:rPr lang="en-GB" dirty="0"/>
              <a:t> on line </a:t>
            </a:r>
            <a:r>
              <a:rPr lang="en-GB" b="1" dirty="0"/>
              <a:t>3</a:t>
            </a:r>
            <a:br>
              <a:rPr lang="en-GB" dirty="0"/>
            </a:br>
            <a:br>
              <a:rPr lang="en-GB" dirty="0"/>
            </a:br>
            <a:r>
              <a:rPr lang="en-GB" b="1" dirty="0"/>
              <a:t>Warning</a:t>
            </a:r>
            <a:r>
              <a:rPr lang="en-GB" dirty="0"/>
              <a:t>: </a:t>
            </a:r>
            <a:r>
              <a:rPr lang="en-GB" dirty="0" err="1"/>
              <a:t>fopen</a:t>
            </a:r>
            <a:r>
              <a:rPr lang="en-GB" dirty="0"/>
              <a:t>(</a:t>
            </a:r>
            <a:r>
              <a:rPr lang="en-GB" dirty="0" err="1"/>
              <a:t>thisisnotarealfile</a:t>
            </a:r>
            <a:r>
              <a:rPr lang="en-GB" dirty="0"/>
              <a:t>) [</a:t>
            </a:r>
            <a:r>
              <a:rPr lang="en-GB" dirty="0" err="1">
                <a:hlinkClick r:id="rId2" action="ppaction://hlinkfile"/>
              </a:rPr>
              <a:t>function.fopen</a:t>
            </a:r>
            <a:r>
              <a:rPr lang="en-GB" dirty="0"/>
              <a:t>]: failed to open stream: No such file</a:t>
            </a:r>
            <a:br>
              <a:rPr lang="en-GB" dirty="0"/>
            </a:br>
            <a:r>
              <a:rPr lang="en-GB" dirty="0"/>
              <a:t> or directory in </a:t>
            </a:r>
            <a:r>
              <a:rPr lang="en-GB" b="1" dirty="0"/>
              <a:t>J:\xampp\htdocs\error_example1.php</a:t>
            </a:r>
            <a:r>
              <a:rPr lang="en-GB" dirty="0"/>
              <a:t> on line </a:t>
            </a:r>
            <a:r>
              <a:rPr lang="en-GB" b="1" dirty="0"/>
              <a:t>5</a:t>
            </a:r>
            <a:br>
              <a:rPr lang="en-GB" dirty="0"/>
            </a:br>
            <a:br>
              <a:rPr lang="en-GB" dirty="0"/>
            </a:br>
            <a:r>
              <a:rPr lang="en-GB" b="1" dirty="0"/>
              <a:t>Fatal error</a:t>
            </a:r>
            <a:r>
              <a:rPr lang="en-GB" dirty="0"/>
              <a:t>: Call to undefined function </a:t>
            </a:r>
            <a:r>
              <a:rPr lang="en-GB" dirty="0" err="1"/>
              <a:t>nonExistingFunction</a:t>
            </a:r>
            <a:r>
              <a:rPr lang="en-GB" dirty="0"/>
              <a:t>() in </a:t>
            </a:r>
            <a:br>
              <a:rPr lang="en-GB" dirty="0"/>
            </a:br>
            <a:r>
              <a:rPr lang="en-GB" b="1" dirty="0"/>
              <a:t>J:\xampp\htdocs\error_example1.php</a:t>
            </a:r>
            <a:r>
              <a:rPr lang="en-GB" dirty="0"/>
              <a:t> on line </a:t>
            </a:r>
            <a:r>
              <a:rPr lang="en-GB" b="1" dirty="0"/>
              <a:t>7</a:t>
            </a:r>
            <a:br>
              <a:rPr lang="en-GB" dirty="0"/>
            </a:br>
            <a:endParaRPr lang="en-GB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sz="3200" dirty="0">
                <a:solidFill>
                  <a:srgbClr val="3366FF"/>
                </a:solidFill>
                <a:latin typeface="Calibri" pitchFamily="34" charset="0"/>
                <a:cs typeface="Calibri" pitchFamily="34" charset="0"/>
              </a:rPr>
              <a:t>PHP’s Internal Handlers Example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2638" y="981076"/>
            <a:ext cx="8229600" cy="4525963"/>
          </a:xfrm>
        </p:spPr>
        <p:txBody>
          <a:bodyPr/>
          <a:lstStyle/>
          <a:p>
            <a:pPr>
              <a:buFont typeface="Courier New" pitchFamily="49" charset="0"/>
              <a:buChar char="o"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Almost the same as the ones in the previous slides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User triggered notice (</a:t>
            </a:r>
            <a:r>
              <a:rPr lang="en-GB" sz="2800" i="1" dirty="0">
                <a:latin typeface="Calibri" pitchFamily="34" charset="0"/>
                <a:cs typeface="Calibri" pitchFamily="34" charset="0"/>
              </a:rPr>
              <a:t>E_USER_NOTICE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User triggered warning (</a:t>
            </a:r>
            <a:r>
              <a:rPr lang="en-GB" sz="2800" i="1" dirty="0">
                <a:latin typeface="Calibri" pitchFamily="34" charset="0"/>
                <a:cs typeface="Calibri" pitchFamily="34" charset="0"/>
              </a:rPr>
              <a:t>E_USER_WARNING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User triggered error (</a:t>
            </a:r>
            <a:r>
              <a:rPr lang="en-GB" sz="2800" i="1" dirty="0">
                <a:latin typeface="Calibri" pitchFamily="34" charset="0"/>
                <a:cs typeface="Calibri" pitchFamily="34" charset="0"/>
              </a:rPr>
              <a:t>E_USER_ERROR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>
              <a:buFont typeface="Courier New" pitchFamily="49" charset="0"/>
              <a:buChar char="o"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Triggering them is done using </a:t>
            </a:r>
            <a:r>
              <a:rPr lang="en-GB" sz="2800" i="1" dirty="0" err="1">
                <a:latin typeface="Calibri" pitchFamily="34" charset="0"/>
                <a:cs typeface="Calibri" pitchFamily="34" charset="0"/>
              </a:rPr>
              <a:t>trigger_error</a:t>
            </a:r>
            <a:r>
              <a:rPr lang="en-GB" sz="2800" i="1" dirty="0">
                <a:latin typeface="Calibri" pitchFamily="34" charset="0"/>
                <a:cs typeface="Calibri" pitchFamily="34" charset="0"/>
              </a:rPr>
              <a:t>()</a:t>
            </a:r>
            <a:endParaRPr lang="en-GB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847851" y="3573464"/>
            <a:ext cx="8640763" cy="31400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&lt;?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php</a:t>
            </a:r>
            <a:endParaRPr lang="en-GB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getValPlusOne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($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val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  if (3 &gt; $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val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trigger_error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('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val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has to be greater than 3', E_USER_ERROR);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  return ($foo + 1);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// trigger error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val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= 2;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val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GetValPlusOne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($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val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?&gt;</a:t>
            </a: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15889"/>
            <a:ext cx="8229600" cy="936625"/>
          </a:xfrm>
          <a:noFill/>
        </p:spPr>
        <p:txBody>
          <a:bodyPr/>
          <a:lstStyle/>
          <a:p>
            <a:pPr eaLnBrk="1" hangingPunct="1"/>
            <a:r>
              <a:rPr lang="en-GB" sz="3200" dirty="0">
                <a:solidFill>
                  <a:srgbClr val="3366FF"/>
                </a:solidFill>
                <a:latin typeface="Calibri" pitchFamily="34" charset="0"/>
                <a:cs typeface="Calibri" pitchFamily="34" charset="0"/>
              </a:rPr>
              <a:t>User Triggered Error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1991544" y="332657"/>
            <a:ext cx="8229600" cy="561975"/>
          </a:xfrm>
        </p:spPr>
        <p:txBody>
          <a:bodyPr/>
          <a:lstStyle/>
          <a:p>
            <a:r>
              <a:rPr lang="en-GB" sz="3200" dirty="0">
                <a:solidFill>
                  <a:srgbClr val="3366FF"/>
                </a:solidFill>
                <a:latin typeface="Calibri" pitchFamily="34" charset="0"/>
                <a:cs typeface="Calibri" pitchFamily="34" charset="0"/>
              </a:rPr>
              <a:t>Additional Error Types</a:t>
            </a:r>
            <a:endParaRPr lang="en-GB" sz="3200" dirty="0">
              <a:solidFill>
                <a:srgbClr val="3366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9" y="1196752"/>
            <a:ext cx="8569325" cy="4525962"/>
          </a:xfrm>
        </p:spPr>
        <p:txBody>
          <a:bodyPr/>
          <a:lstStyle/>
          <a:p>
            <a:pPr>
              <a:buFont typeface="Courier New" pitchFamily="49" charset="0"/>
              <a:buChar char="o"/>
              <a:defRPr/>
            </a:pPr>
            <a:r>
              <a:rPr lang="en-GB" sz="20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Catchable fatal error</a:t>
            </a:r>
          </a:p>
          <a:p>
            <a:pPr marL="0" indent="0">
              <a:buNone/>
              <a:defRPr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	- </a:t>
            </a:r>
            <a:r>
              <a:rPr lang="en-GB" sz="2000" i="1" dirty="0">
                <a:latin typeface="Calibri" pitchFamily="34" charset="0"/>
                <a:cs typeface="Calibri" pitchFamily="34" charset="0"/>
              </a:rPr>
              <a:t>E_RECOVERABLE_ERROR </a:t>
            </a:r>
            <a:r>
              <a:rPr lang="en-GB" sz="2000" dirty="0">
                <a:latin typeface="Calibri" pitchFamily="34" charset="0"/>
                <a:cs typeface="Calibri" pitchFamily="34" charset="0"/>
              </a:rPr>
              <a:t>– a probably dangerous error occurred. If not</a:t>
            </a:r>
            <a:br>
              <a:rPr lang="en-GB" sz="2000" dirty="0">
                <a:latin typeface="Calibri" pitchFamily="34" charset="0"/>
                <a:cs typeface="Calibri" pitchFamily="34" charset="0"/>
              </a:rPr>
            </a:br>
            <a:r>
              <a:rPr lang="en-GB" sz="2000" dirty="0">
                <a:latin typeface="Calibri" pitchFamily="34" charset="0"/>
                <a:cs typeface="Calibri" pitchFamily="34" charset="0"/>
              </a:rPr>
              <a:t>	handled by the user, the application will abort as if this was an E_ERROR</a:t>
            </a:r>
          </a:p>
          <a:p>
            <a:pPr>
              <a:buFont typeface="Courier New" pitchFamily="49" charset="0"/>
              <a:buChar char="o"/>
              <a:defRPr/>
            </a:pPr>
            <a:r>
              <a:rPr lang="en-GB" sz="20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Parsing errors</a:t>
            </a:r>
          </a:p>
          <a:p>
            <a:pPr marL="0" indent="0">
              <a:buNone/>
              <a:defRPr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	- </a:t>
            </a:r>
            <a:r>
              <a:rPr lang="en-GB" sz="2000" i="1" dirty="0">
                <a:latin typeface="Calibri" pitchFamily="34" charset="0"/>
                <a:cs typeface="Calibri" pitchFamily="34" charset="0"/>
              </a:rPr>
              <a:t>E_PARSE </a:t>
            </a:r>
            <a:r>
              <a:rPr lang="en-GB" sz="2000" dirty="0">
                <a:latin typeface="Calibri" pitchFamily="34" charset="0"/>
                <a:cs typeface="Calibri" pitchFamily="34" charset="0"/>
              </a:rPr>
              <a:t>– there is a syntactic error found while parsing the script. </a:t>
            </a:r>
            <a:br>
              <a:rPr lang="en-GB" sz="2000" dirty="0">
                <a:latin typeface="Calibri" pitchFamily="34" charset="0"/>
                <a:cs typeface="Calibri" pitchFamily="34" charset="0"/>
              </a:rPr>
            </a:br>
            <a:r>
              <a:rPr lang="en-GB" sz="2000" dirty="0">
                <a:latin typeface="Calibri" pitchFamily="34" charset="0"/>
                <a:cs typeface="Calibri" pitchFamily="34" charset="0"/>
              </a:rPr>
              <a:t>	This is a fatal error</a:t>
            </a:r>
          </a:p>
          <a:p>
            <a:pPr>
              <a:buFont typeface="Courier New" pitchFamily="49" charset="0"/>
              <a:buChar char="o"/>
              <a:defRPr/>
            </a:pPr>
            <a:r>
              <a:rPr lang="en-GB" sz="20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Compilation errors</a:t>
            </a:r>
          </a:p>
          <a:p>
            <a:pPr marL="0" indent="0">
              <a:buNone/>
              <a:defRPr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	- </a:t>
            </a:r>
            <a:r>
              <a:rPr lang="en-GB" sz="2000" i="1" dirty="0">
                <a:latin typeface="Calibri" pitchFamily="34" charset="0"/>
                <a:cs typeface="Calibri" pitchFamily="34" charset="0"/>
              </a:rPr>
              <a:t>E_COMPILE_ERROR </a:t>
            </a:r>
            <a:r>
              <a:rPr lang="en-GB" sz="2000" dirty="0">
                <a:latin typeface="Calibri" pitchFamily="34" charset="0"/>
                <a:cs typeface="Calibri" pitchFamily="34" charset="0"/>
              </a:rPr>
              <a:t>– a fatal error occurred in the engine while</a:t>
            </a:r>
            <a:br>
              <a:rPr lang="en-GB" sz="2000" dirty="0">
                <a:latin typeface="Calibri" pitchFamily="34" charset="0"/>
                <a:cs typeface="Calibri" pitchFamily="34" charset="0"/>
              </a:rPr>
            </a:br>
            <a:r>
              <a:rPr lang="en-GB" sz="2000" dirty="0">
                <a:latin typeface="Calibri" pitchFamily="34" charset="0"/>
                <a:cs typeface="Calibri" pitchFamily="34" charset="0"/>
              </a:rPr>
              <a:t>	compiling the script</a:t>
            </a:r>
          </a:p>
          <a:p>
            <a:pPr marL="0" indent="0">
              <a:buNone/>
              <a:defRPr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	- </a:t>
            </a:r>
            <a:r>
              <a:rPr lang="en-GB" sz="2000" i="1" dirty="0">
                <a:latin typeface="Calibri" pitchFamily="34" charset="0"/>
                <a:cs typeface="Calibri" pitchFamily="34" charset="0"/>
              </a:rPr>
              <a:t>E_COMPILE_WARNING </a:t>
            </a:r>
            <a:r>
              <a:rPr lang="en-GB" sz="2000" dirty="0">
                <a:latin typeface="Calibri" pitchFamily="34" charset="0"/>
                <a:cs typeface="Calibri" pitchFamily="34" charset="0"/>
              </a:rPr>
              <a:t>- a nonfatal error occurred in the engine while 	compiling the script</a:t>
            </a:r>
          </a:p>
          <a:p>
            <a:pPr>
              <a:buFont typeface="Courier New" pitchFamily="49" charset="0"/>
              <a:buChar char="o"/>
              <a:defRPr/>
            </a:pPr>
            <a:r>
              <a:rPr lang="en-GB" sz="20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PHP core errors</a:t>
            </a:r>
          </a:p>
          <a:p>
            <a:pPr marL="0" indent="0">
              <a:buNone/>
              <a:defRPr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	- </a:t>
            </a:r>
            <a:r>
              <a:rPr lang="en-GB" sz="2000" i="1" dirty="0">
                <a:latin typeface="Calibri" pitchFamily="34" charset="0"/>
                <a:cs typeface="Calibri" pitchFamily="34" charset="0"/>
              </a:rPr>
              <a:t>E_CORE_ERROR </a:t>
            </a:r>
            <a:r>
              <a:rPr lang="en-GB" sz="2000" dirty="0">
                <a:latin typeface="Calibri" pitchFamily="34" charset="0"/>
                <a:cs typeface="Calibri" pitchFamily="34" charset="0"/>
              </a:rPr>
              <a:t>– a fatal runtime error occurred in the engine</a:t>
            </a:r>
          </a:p>
          <a:p>
            <a:pPr marL="0" indent="0">
              <a:buNone/>
              <a:defRPr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	- </a:t>
            </a:r>
            <a:r>
              <a:rPr lang="en-GB" sz="2000" i="1" dirty="0">
                <a:latin typeface="Calibri" pitchFamily="34" charset="0"/>
                <a:cs typeface="Calibri" pitchFamily="34" charset="0"/>
              </a:rPr>
              <a:t>E_CORE_WARNING </a:t>
            </a:r>
            <a:r>
              <a:rPr lang="en-GB" sz="2000" dirty="0">
                <a:latin typeface="Calibri" pitchFamily="34" charset="0"/>
                <a:cs typeface="Calibri" pitchFamily="34" charset="0"/>
              </a:rPr>
              <a:t>– a nonfatal runtime error occurred in the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850" y="1268413"/>
            <a:ext cx="8686800" cy="4857750"/>
          </a:xfrm>
        </p:spPr>
        <p:txBody>
          <a:bodyPr/>
          <a:lstStyle/>
          <a:p>
            <a:pPr>
              <a:buFont typeface="Courier New" pitchFamily="49" charset="0"/>
              <a:buChar char="o"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Setting which errors PHP will report is done through the </a:t>
            </a:r>
            <a:r>
              <a:rPr lang="en-GB" sz="2800" i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error_reportin</a:t>
            </a:r>
            <a:r>
              <a:rPr lang="en-GB" sz="2800" i="1" dirty="0" err="1">
                <a:latin typeface="Calibri" pitchFamily="34" charset="0"/>
                <a:cs typeface="Calibri" pitchFamily="34" charset="0"/>
              </a:rPr>
              <a:t>g</a:t>
            </a:r>
            <a:r>
              <a:rPr lang="en-GB" sz="2800" i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directive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in php.ini file</a:t>
            </a:r>
          </a:p>
          <a:p>
            <a:pPr marL="0" indent="0">
              <a:buNone/>
              <a:defRPr/>
            </a:pPr>
            <a:r>
              <a:rPr lang="en-GB" i="1" dirty="0">
                <a:latin typeface="Calibri" pitchFamily="34" charset="0"/>
                <a:cs typeface="Calibri" pitchFamily="34" charset="0"/>
              </a:rPr>
              <a:t>		</a:t>
            </a:r>
            <a:r>
              <a:rPr lang="en-GB" sz="2000" i="1" dirty="0" err="1">
                <a:latin typeface="Courier New" pitchFamily="49" charset="0"/>
                <a:cs typeface="Courier New" pitchFamily="49" charset="0"/>
              </a:rPr>
              <a:t>error_reporting</a:t>
            </a:r>
            <a:r>
              <a:rPr lang="en-GB" sz="2000" i="1" dirty="0">
                <a:latin typeface="Courier New" pitchFamily="49" charset="0"/>
                <a:cs typeface="Courier New" pitchFamily="49" charset="0"/>
              </a:rPr>
              <a:t> = E_ALL &amp; ~E_NOTICE</a:t>
            </a:r>
          </a:p>
          <a:p>
            <a:pPr marL="0" indent="0">
              <a:buNone/>
              <a:defRPr/>
            </a:pPr>
            <a:r>
              <a:rPr lang="en-GB" dirty="0">
                <a:latin typeface="Calibri" pitchFamily="34" charset="0"/>
                <a:cs typeface="Calibri" pitchFamily="34" charset="0"/>
              </a:rPr>
              <a:t>	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- at runtime</a:t>
            </a:r>
            <a:br>
              <a:rPr lang="en-GB" sz="2800" dirty="0">
                <a:latin typeface="Calibri" pitchFamily="34" charset="0"/>
                <a:cs typeface="Calibri" pitchFamily="34" charset="0"/>
              </a:rPr>
            </a:br>
            <a:r>
              <a:rPr lang="en-GB" dirty="0">
                <a:latin typeface="Calibri" pitchFamily="34" charset="0"/>
                <a:cs typeface="Calibri" pitchFamily="34" charset="0"/>
              </a:rPr>
              <a:t>		</a:t>
            </a:r>
            <a:r>
              <a:rPr lang="en-GB" sz="1800" i="1" dirty="0" err="1">
                <a:latin typeface="Courier New" pitchFamily="49" charset="0"/>
                <a:cs typeface="Courier New" pitchFamily="49" charset="0"/>
              </a:rPr>
              <a:t>error_reporting</a:t>
            </a:r>
            <a:r>
              <a:rPr lang="en-GB" sz="1800" i="1" dirty="0">
                <a:latin typeface="Courier New" pitchFamily="49" charset="0"/>
                <a:cs typeface="Courier New" pitchFamily="49" charset="0"/>
              </a:rPr>
              <a:t>(E_ALL &amp; ~E_NOTICE);</a:t>
            </a:r>
          </a:p>
          <a:p>
            <a:pPr marL="0" indent="0">
              <a:buNone/>
              <a:defRPr/>
            </a:pPr>
            <a:r>
              <a:rPr lang="en-GB" dirty="0">
                <a:latin typeface="Calibri" pitchFamily="34" charset="0"/>
                <a:cs typeface="Calibri" pitchFamily="34" charset="0"/>
              </a:rPr>
              <a:t>	- 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in .</a:t>
            </a:r>
            <a:r>
              <a:rPr lang="en-GB" sz="2800" dirty="0" err="1">
                <a:latin typeface="Calibri" pitchFamily="34" charset="0"/>
                <a:cs typeface="Calibri" pitchFamily="34" charset="0"/>
              </a:rPr>
              <a:t>htaccess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GB" sz="2800" dirty="0" err="1">
                <a:latin typeface="Calibri" pitchFamily="34" charset="0"/>
                <a:cs typeface="Calibri" pitchFamily="34" charset="0"/>
              </a:rPr>
              <a:t>apache.conf</a:t>
            </a:r>
            <a:endParaRPr lang="en-GB" sz="28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  <a:defRPr/>
            </a:pPr>
            <a:r>
              <a:rPr lang="en-GB" i="1" dirty="0">
                <a:latin typeface="Calibri" pitchFamily="34" charset="0"/>
                <a:cs typeface="Calibri" pitchFamily="34" charset="0"/>
              </a:rPr>
              <a:t>		</a:t>
            </a:r>
            <a:r>
              <a:rPr lang="en-GB" sz="1800" i="1" dirty="0" err="1">
                <a:latin typeface="Courier New" pitchFamily="49" charset="0"/>
                <a:cs typeface="Courier New" pitchFamily="49" charset="0"/>
              </a:rPr>
              <a:t>php_value</a:t>
            </a:r>
            <a:r>
              <a:rPr lang="en-GB" sz="1800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i="1" dirty="0" err="1">
                <a:latin typeface="Courier New" pitchFamily="49" charset="0"/>
                <a:cs typeface="Courier New" pitchFamily="49" charset="0"/>
              </a:rPr>
              <a:t>error_reporting</a:t>
            </a:r>
            <a:r>
              <a:rPr lang="en-GB" sz="1800" i="1" dirty="0">
                <a:latin typeface="Courier New" pitchFamily="49" charset="0"/>
                <a:cs typeface="Courier New" pitchFamily="49" charset="0"/>
              </a:rPr>
              <a:t> 6135</a:t>
            </a:r>
            <a:endParaRPr lang="en-GB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35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rgbClr val="3366FF"/>
                </a:solidFill>
                <a:latin typeface="Calibri" pitchFamily="34" charset="0"/>
                <a:cs typeface="Calibri" pitchFamily="34" charset="0"/>
              </a:rPr>
              <a:t>Error Reporting Configuration Settings</a:t>
            </a:r>
            <a:endParaRPr lang="en-GB" sz="3200" dirty="0">
              <a:solidFill>
                <a:srgbClr val="3366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rgbClr val="3366FF"/>
                </a:solidFill>
                <a:latin typeface="Calibri" pitchFamily="34" charset="0"/>
                <a:cs typeface="Calibri" pitchFamily="34" charset="0"/>
              </a:rPr>
              <a:t>Handling Errors</a:t>
            </a:r>
            <a:endParaRPr lang="en-GB" sz="3200" dirty="0">
              <a:solidFill>
                <a:srgbClr val="3366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0013" y="1628776"/>
            <a:ext cx="6985000" cy="4525963"/>
          </a:xfrm>
        </p:spPr>
        <p:txBody>
          <a:bodyPr/>
          <a:lstStyle/>
          <a:p>
            <a:pPr>
              <a:buFont typeface="Courier New" pitchFamily="49" charset="0"/>
              <a:buChar char="o"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There are four ways to handle errors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Display them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Log them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Ignore them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Act on them</a:t>
            </a:r>
          </a:p>
        </p:txBody>
      </p:sp>
      <p:pic>
        <p:nvPicPr>
          <p:cNvPr id="24580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1" y="2708275"/>
            <a:ext cx="406876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ounded Rectangle 4"/>
          <p:cNvSpPr/>
          <p:nvPr/>
        </p:nvSpPr>
        <p:spPr bwMode="auto">
          <a:xfrm>
            <a:off x="6743701" y="5805489"/>
            <a:ext cx="3529013" cy="5032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9F9FD"/>
                </a:solidFill>
                <a:latin typeface="Arial" charset="0"/>
              </a:rPr>
              <a:t>Relevance of image??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rgbClr val="3366FF"/>
                </a:solidFill>
                <a:latin typeface="Calibri" pitchFamily="34" charset="0"/>
                <a:cs typeface="Calibri" pitchFamily="34" charset="0"/>
              </a:rPr>
              <a:t>Displaying Errors</a:t>
            </a:r>
            <a:endParaRPr lang="en-GB" dirty="0">
              <a:solidFill>
                <a:srgbClr val="3366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0088" y="1268413"/>
            <a:ext cx="8507412" cy="4525962"/>
          </a:xfrm>
        </p:spPr>
        <p:txBody>
          <a:bodyPr/>
          <a:lstStyle/>
          <a:p>
            <a:pPr>
              <a:buFont typeface="Courier New" pitchFamily="49" charset="0"/>
              <a:buChar char="o"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How to display errors in the standard output -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Set the </a:t>
            </a:r>
            <a:r>
              <a:rPr lang="en-GB" sz="2800" i="1" dirty="0" err="1">
                <a:latin typeface="Calibri" pitchFamily="34" charset="0"/>
                <a:cs typeface="Calibri" pitchFamily="34" charset="0"/>
              </a:rPr>
              <a:t>display_errors</a:t>
            </a:r>
            <a:r>
              <a:rPr lang="en-GB" sz="2800" i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directive to </a:t>
            </a:r>
            <a:r>
              <a:rPr lang="en-GB" sz="2800" i="1" dirty="0">
                <a:latin typeface="Calibri" pitchFamily="34" charset="0"/>
                <a:cs typeface="Calibri" pitchFamily="34" charset="0"/>
              </a:rPr>
              <a:t>On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Set the </a:t>
            </a:r>
            <a:r>
              <a:rPr lang="en-GB" sz="2800" i="1" dirty="0" err="1">
                <a:latin typeface="Calibri" pitchFamily="34" charset="0"/>
                <a:cs typeface="Calibri" pitchFamily="34" charset="0"/>
              </a:rPr>
              <a:t>error_reporting</a:t>
            </a:r>
            <a:r>
              <a:rPr lang="en-GB" sz="2800" i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to the 	appropriate 	severity level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063750" y="3213100"/>
            <a:ext cx="8135938" cy="2736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&lt;?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php</a:t>
            </a:r>
            <a:br>
              <a:rPr lang="en-GB" dirty="0">
                <a:latin typeface="Courier New" pitchFamily="49" charset="0"/>
                <a:cs typeface="Courier New" pitchFamily="49" charset="0"/>
              </a:rPr>
            </a:br>
            <a:r>
              <a:rPr lang="en-GB" dirty="0">
                <a:latin typeface="Courier New" pitchFamily="49" charset="0"/>
                <a:cs typeface="Courier New" pitchFamily="49" charset="0"/>
              </a:rPr>
              <a:t>echo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ini_get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('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display_errors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');</a:t>
            </a:r>
            <a:br>
              <a:rPr lang="en-GB" dirty="0">
                <a:latin typeface="Courier New" pitchFamily="49" charset="0"/>
                <a:cs typeface="Courier New" pitchFamily="49" charset="0"/>
              </a:rPr>
            </a:br>
            <a:br>
              <a:rPr lang="en-GB" dirty="0">
                <a:latin typeface="Courier New" pitchFamily="49" charset="0"/>
                <a:cs typeface="Courier New" pitchFamily="49" charset="0"/>
              </a:rPr>
            </a:br>
            <a:r>
              <a:rPr lang="en-GB" dirty="0">
                <a:latin typeface="Courier New" pitchFamily="49" charset="0"/>
                <a:cs typeface="Courier New" pitchFamily="49" charset="0"/>
              </a:rPr>
              <a:t>if (!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ini_get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('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display_errors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')) {</a:t>
            </a:r>
            <a:br>
              <a:rPr lang="en-GB" dirty="0">
                <a:latin typeface="Courier New" pitchFamily="49" charset="0"/>
                <a:cs typeface="Courier New" pitchFamily="49" charset="0"/>
              </a:rPr>
            </a:br>
            <a:r>
              <a:rPr lang="en-GB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ini_set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('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display_errors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', 1);</a:t>
            </a:r>
            <a:br>
              <a:rPr lang="en-GB" dirty="0">
                <a:latin typeface="Courier New" pitchFamily="49" charset="0"/>
                <a:cs typeface="Courier New" pitchFamily="49" charset="0"/>
              </a:rPr>
            </a:br>
            <a:r>
              <a:rPr lang="en-GB" dirty="0">
                <a:latin typeface="Courier New" pitchFamily="49" charset="0"/>
                <a:cs typeface="Courier New" pitchFamily="49" charset="0"/>
              </a:rPr>
              <a:t>}</a:t>
            </a:r>
            <a:br>
              <a:rPr lang="en-GB" dirty="0">
                <a:latin typeface="Courier New" pitchFamily="49" charset="0"/>
                <a:cs typeface="Courier New" pitchFamily="49" charset="0"/>
              </a:rPr>
            </a:br>
            <a:br>
              <a:rPr lang="en-GB" dirty="0">
                <a:latin typeface="Courier New" pitchFamily="49" charset="0"/>
                <a:cs typeface="Courier New" pitchFamily="49" charset="0"/>
              </a:rPr>
            </a:br>
            <a:r>
              <a:rPr lang="en-GB" dirty="0">
                <a:latin typeface="Courier New" pitchFamily="49" charset="0"/>
                <a:cs typeface="Courier New" pitchFamily="49" charset="0"/>
              </a:rPr>
              <a:t>echo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ini_get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('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display_errors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');</a:t>
            </a:r>
            <a:br>
              <a:rPr lang="en-GB" dirty="0">
                <a:latin typeface="Courier New" pitchFamily="49" charset="0"/>
                <a:cs typeface="Courier New" pitchFamily="49" charset="0"/>
              </a:rPr>
            </a:br>
            <a:r>
              <a:rPr lang="en-GB" dirty="0">
                <a:latin typeface="Courier New" pitchFamily="49" charset="0"/>
                <a:cs typeface="Courier New" pitchFamily="49" charset="0"/>
              </a:rPr>
              <a:t>?&gt;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5159375" y="5805488"/>
            <a:ext cx="5113338" cy="6477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9F9FD"/>
                </a:solidFill>
                <a:latin typeface="Arial" charset="0"/>
              </a:rPr>
              <a:t>Displaying errors is good for the programmer</a:t>
            </a:r>
            <a:br>
              <a:rPr lang="en-GB" b="1" dirty="0">
                <a:solidFill>
                  <a:srgbClr val="F9F9FD"/>
                </a:solidFill>
                <a:latin typeface="Arial" charset="0"/>
              </a:rPr>
            </a:br>
            <a:r>
              <a:rPr lang="en-GB" b="1" dirty="0">
                <a:solidFill>
                  <a:srgbClr val="F9F9FD"/>
                </a:solidFill>
                <a:latin typeface="Arial" charset="0"/>
              </a:rPr>
              <a:t> but bad for the user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991544" y="260648"/>
            <a:ext cx="8229600" cy="1143000"/>
          </a:xfrm>
        </p:spPr>
        <p:txBody>
          <a:bodyPr/>
          <a:lstStyle/>
          <a:p>
            <a:r>
              <a:rPr lang="en-GB" sz="3200" dirty="0">
                <a:solidFill>
                  <a:srgbClr val="3366FF"/>
                </a:solidFill>
                <a:latin typeface="Calibri" pitchFamily="34" charset="0"/>
                <a:cs typeface="Calibri" pitchFamily="34" charset="0"/>
              </a:rPr>
              <a:t>Logging Errors</a:t>
            </a:r>
            <a:endParaRPr lang="en-GB" dirty="0">
              <a:solidFill>
                <a:srgbClr val="3366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9536" y="1556793"/>
            <a:ext cx="8362950" cy="4525963"/>
          </a:xfrm>
        </p:spPr>
        <p:txBody>
          <a:bodyPr/>
          <a:lstStyle/>
          <a:p>
            <a:pPr>
              <a:buFont typeface="Courier New" pitchFamily="49" charset="0"/>
              <a:buChar char="o"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How to set PHP to automatically log errors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Set the </a:t>
            </a:r>
            <a:r>
              <a:rPr lang="en-GB" sz="2800" i="1" dirty="0" err="1">
                <a:latin typeface="Calibri" pitchFamily="34" charset="0"/>
                <a:cs typeface="Calibri" pitchFamily="34" charset="0"/>
              </a:rPr>
              <a:t>log_errors</a:t>
            </a:r>
            <a:r>
              <a:rPr lang="en-GB" sz="2800" i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directive to </a:t>
            </a:r>
            <a:r>
              <a:rPr lang="en-GB" sz="2800" i="1" dirty="0">
                <a:latin typeface="Calibri" pitchFamily="34" charset="0"/>
                <a:cs typeface="Calibri" pitchFamily="34" charset="0"/>
              </a:rPr>
              <a:t>On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Set the </a:t>
            </a:r>
            <a:r>
              <a:rPr lang="en-GB" sz="2800" i="1" dirty="0" err="1">
                <a:latin typeface="Calibri" pitchFamily="34" charset="0"/>
                <a:cs typeface="Calibri" pitchFamily="34" charset="0"/>
              </a:rPr>
              <a:t>error_log</a:t>
            </a:r>
            <a:r>
              <a:rPr lang="en-GB" sz="2800" i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directive to your preferred 	logging option</a:t>
            </a:r>
          </a:p>
          <a:p>
            <a:pPr>
              <a:buFont typeface="Courier New" pitchFamily="49" charset="0"/>
              <a:buChar char="o"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PHP supports two options for logging errors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Logging to a file – set the </a:t>
            </a:r>
            <a:r>
              <a:rPr lang="en-GB" sz="2800" i="1" dirty="0" err="1">
                <a:latin typeface="Calibri" pitchFamily="34" charset="0"/>
                <a:cs typeface="Calibri" pitchFamily="34" charset="0"/>
              </a:rPr>
              <a:t>error_log</a:t>
            </a:r>
            <a:r>
              <a:rPr lang="en-GB" sz="2800" i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to a file path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Logging to </a:t>
            </a:r>
            <a:r>
              <a:rPr lang="en-GB" sz="2800" i="1" dirty="0">
                <a:latin typeface="Calibri" pitchFamily="34" charset="0"/>
                <a:cs typeface="Calibri" pitchFamily="34" charset="0"/>
              </a:rPr>
              <a:t>syslog 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– set the </a:t>
            </a:r>
            <a:r>
              <a:rPr lang="en-GB" sz="2800" i="1" dirty="0" err="1">
                <a:latin typeface="Calibri" pitchFamily="34" charset="0"/>
                <a:cs typeface="Calibri" pitchFamily="34" charset="0"/>
              </a:rPr>
              <a:t>error_log</a:t>
            </a:r>
            <a:r>
              <a:rPr lang="en-GB" sz="2800" i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sz="2800" dirty="0">
                <a:latin typeface="Calibri" pitchFamily="34" charset="0"/>
                <a:cs typeface="Calibri" pitchFamily="34" charset="0"/>
              </a:rPr>
              <a:t>to </a:t>
            </a:r>
            <a:r>
              <a:rPr lang="en-GB" sz="2800" i="1" dirty="0">
                <a:latin typeface="Calibri" pitchFamily="34" charset="0"/>
                <a:cs typeface="Calibri" pitchFamily="34" charset="0"/>
              </a:rPr>
              <a:t>syslog</a:t>
            </a:r>
            <a:endParaRPr lang="en-GB" sz="28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992313" y="333375"/>
            <a:ext cx="8229600" cy="1143000"/>
          </a:xfrm>
        </p:spPr>
        <p:txBody>
          <a:bodyPr/>
          <a:lstStyle/>
          <a:p>
            <a:r>
              <a:rPr lang="en-GB" sz="3200" dirty="0">
                <a:solidFill>
                  <a:srgbClr val="3366FF"/>
                </a:solidFill>
                <a:latin typeface="Calibri" pitchFamily="34" charset="0"/>
                <a:cs typeface="Calibri" pitchFamily="34" charset="0"/>
              </a:rPr>
              <a:t>Ignoring Errors</a:t>
            </a:r>
            <a:endParaRPr lang="en-GB" dirty="0">
              <a:solidFill>
                <a:srgbClr val="3366FF"/>
              </a:solidFill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1919288" y="1412875"/>
            <a:ext cx="8229600" cy="4425950"/>
          </a:xfrm>
        </p:spPr>
        <p:txBody>
          <a:bodyPr/>
          <a:lstStyle/>
          <a:p>
            <a:pPr marL="0" indent="0">
              <a:buNone/>
            </a:pPr>
            <a:r>
              <a:rPr lang="en-GB" sz="2800" dirty="0"/>
              <a:t>	</a:t>
            </a:r>
            <a:endParaRPr lang="en-GB" sz="2400" dirty="0"/>
          </a:p>
        </p:txBody>
      </p:sp>
      <p:pic>
        <p:nvPicPr>
          <p:cNvPr id="27652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239" y="1341438"/>
            <a:ext cx="4319587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5445125"/>
            <a:ext cx="63500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363" y="1557338"/>
            <a:ext cx="4068762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ounded Rectangle 2"/>
          <p:cNvSpPr/>
          <p:nvPr/>
        </p:nvSpPr>
        <p:spPr bwMode="auto">
          <a:xfrm>
            <a:off x="1847851" y="4941888"/>
            <a:ext cx="8640763" cy="100806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2200" b="1" dirty="0">
                <a:solidFill>
                  <a:schemeClr val="bg1"/>
                </a:solidFill>
                <a:latin typeface="Arial" charset="0"/>
              </a:rPr>
              <a:t>Here’s what happens to your assignment mark if you</a:t>
            </a:r>
            <a:br>
              <a:rPr lang="en-GB" sz="2200" b="1" dirty="0">
                <a:solidFill>
                  <a:schemeClr val="bg1"/>
                </a:solidFill>
                <a:latin typeface="Arial" charset="0"/>
              </a:rPr>
            </a:br>
            <a:r>
              <a:rPr lang="en-GB" sz="2200" b="1" dirty="0">
                <a:solidFill>
                  <a:schemeClr val="bg1"/>
                </a:solidFill>
                <a:latin typeface="Arial" charset="0"/>
              </a:rPr>
              <a:t>forget  error / exception handling. Likely to be in exam also ..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2135188" y="692151"/>
            <a:ext cx="3529012" cy="50482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2400" b="1" dirty="0">
                <a:solidFill>
                  <a:srgbClr val="F9F9FD"/>
                </a:solidFill>
                <a:latin typeface="Arial" charset="0"/>
              </a:rPr>
              <a:t>Relevance of image 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rgbClr val="3366FF"/>
                </a:solidFill>
                <a:latin typeface="Calibri" pitchFamily="34" charset="0"/>
                <a:cs typeface="Calibri" pitchFamily="34" charset="0"/>
              </a:rPr>
              <a:t>Acting on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2313" y="1268414"/>
            <a:ext cx="8578850" cy="4713287"/>
          </a:xfrm>
        </p:spPr>
        <p:txBody>
          <a:bodyPr/>
          <a:lstStyle/>
          <a:p>
            <a:pPr>
              <a:buFont typeface="Courier New" pitchFamily="49" charset="0"/>
              <a:buChar char="o"/>
              <a:defRPr/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PHP enables us to set a default error handler using the </a:t>
            </a:r>
            <a:r>
              <a:rPr lang="en-GB" sz="2400" b="1" i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set_error_handler</a:t>
            </a:r>
            <a:r>
              <a:rPr lang="en-GB" sz="24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() </a:t>
            </a:r>
            <a:r>
              <a:rPr lang="en-GB" sz="2400" dirty="0">
                <a:latin typeface="Calibri" pitchFamily="34" charset="0"/>
                <a:cs typeface="Calibri" pitchFamily="34" charset="0"/>
              </a:rPr>
              <a:t>function</a:t>
            </a:r>
          </a:p>
          <a:p>
            <a:pPr>
              <a:buFont typeface="Courier New" pitchFamily="49" charset="0"/>
              <a:buChar char="o"/>
              <a:defRPr/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Five parameters will be passed to the user-defined error handler function</a:t>
            </a:r>
          </a:p>
          <a:p>
            <a:pPr marL="0" indent="0">
              <a:buNone/>
              <a:defRPr/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	- integer $</a:t>
            </a:r>
            <a:r>
              <a:rPr lang="en-GB" sz="2400" dirty="0" err="1">
                <a:latin typeface="Calibri" pitchFamily="34" charset="0"/>
                <a:cs typeface="Calibri" pitchFamily="34" charset="0"/>
              </a:rPr>
              <a:t>errno</a:t>
            </a:r>
            <a:r>
              <a:rPr lang="en-GB" sz="2400" dirty="0">
                <a:latin typeface="Calibri" pitchFamily="34" charset="0"/>
                <a:cs typeface="Calibri" pitchFamily="34" charset="0"/>
              </a:rPr>
              <a:t> – error severity level</a:t>
            </a:r>
          </a:p>
          <a:p>
            <a:pPr marL="0" indent="0">
              <a:buNone/>
              <a:defRPr/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	- string $</a:t>
            </a:r>
            <a:r>
              <a:rPr lang="en-GB" sz="2400" dirty="0" err="1">
                <a:latin typeface="Calibri" pitchFamily="34" charset="0"/>
                <a:cs typeface="Calibri" pitchFamily="34" charset="0"/>
              </a:rPr>
              <a:t>errstr</a:t>
            </a:r>
            <a:r>
              <a:rPr lang="en-GB" sz="2400" dirty="0">
                <a:latin typeface="Calibri" pitchFamily="34" charset="0"/>
                <a:cs typeface="Calibri" pitchFamily="34" charset="0"/>
              </a:rPr>
              <a:t> – error message</a:t>
            </a:r>
          </a:p>
          <a:p>
            <a:pPr marL="0" indent="0">
              <a:buNone/>
              <a:defRPr/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	- string $</a:t>
            </a:r>
            <a:r>
              <a:rPr lang="en-GB" sz="2400" dirty="0" err="1">
                <a:latin typeface="Calibri" pitchFamily="34" charset="0"/>
                <a:cs typeface="Calibri" pitchFamily="34" charset="0"/>
              </a:rPr>
              <a:t>errfile</a:t>
            </a:r>
            <a:r>
              <a:rPr lang="en-GB" sz="2400" dirty="0">
                <a:latin typeface="Calibri" pitchFamily="34" charset="0"/>
                <a:cs typeface="Calibri" pitchFamily="34" charset="0"/>
              </a:rPr>
              <a:t> [optional] – filename where the error was 	raised</a:t>
            </a:r>
          </a:p>
          <a:p>
            <a:pPr marL="0" indent="0">
              <a:buNone/>
              <a:defRPr/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	- integer $</a:t>
            </a:r>
            <a:r>
              <a:rPr lang="en-GB" sz="2400" dirty="0" err="1">
                <a:latin typeface="Calibri" pitchFamily="34" charset="0"/>
                <a:cs typeface="Calibri" pitchFamily="34" charset="0"/>
              </a:rPr>
              <a:t>errline</a:t>
            </a:r>
            <a:r>
              <a:rPr lang="en-GB" sz="2400" dirty="0">
                <a:latin typeface="Calibri" pitchFamily="34" charset="0"/>
                <a:cs typeface="Calibri" pitchFamily="34" charset="0"/>
              </a:rPr>
              <a:t> [optional] – line number where the error 	was raised</a:t>
            </a:r>
          </a:p>
          <a:p>
            <a:pPr marL="0" indent="0">
              <a:buNone/>
              <a:defRPr/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	- array $</a:t>
            </a:r>
            <a:r>
              <a:rPr lang="en-GB" sz="2400" dirty="0" err="1">
                <a:latin typeface="Calibri" pitchFamily="34" charset="0"/>
                <a:cs typeface="Calibri" pitchFamily="34" charset="0"/>
              </a:rPr>
              <a:t>errcontext</a:t>
            </a:r>
            <a:r>
              <a:rPr lang="en-GB" sz="2400" dirty="0">
                <a:latin typeface="Calibri" pitchFamily="34" charset="0"/>
                <a:cs typeface="Calibri" pitchFamily="34" charset="0"/>
              </a:rPr>
              <a:t> [optional] - an array of every variable 	that existed in the scope the error was triggered 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1992313" y="981076"/>
            <a:ext cx="8280400" cy="56880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GB" sz="16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GB" sz="1600" dirty="0" err="1">
                <a:solidFill>
                  <a:srgbClr val="333300"/>
                </a:solidFill>
                <a:latin typeface="Courier New" pitchFamily="49" charset="0"/>
                <a:cs typeface="Courier New" pitchFamily="49" charset="0"/>
              </a:rPr>
              <a:t>demoErrorHandler</a:t>
            </a:r>
            <a:r>
              <a:rPr lang="en-GB" sz="1600" dirty="0">
                <a:solidFill>
                  <a:srgbClr val="3333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dirty="0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GB" sz="1600" dirty="0" err="1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errno</a:t>
            </a:r>
            <a:r>
              <a:rPr lang="en-GB" sz="1600" dirty="0">
                <a:solidFill>
                  <a:srgbClr val="3333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dirty="0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GB" sz="1600" dirty="0" err="1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errstr</a:t>
            </a:r>
            <a:r>
              <a:rPr lang="en-GB" sz="1600" dirty="0">
                <a:solidFill>
                  <a:srgbClr val="3333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dirty="0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GB" sz="1600" dirty="0" err="1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errfile</a:t>
            </a:r>
            <a:r>
              <a:rPr lang="en-GB" sz="1600" dirty="0">
                <a:solidFill>
                  <a:srgbClr val="3333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dirty="0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GB" sz="1600" dirty="0" err="1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errline</a:t>
            </a:r>
            <a:r>
              <a:rPr lang="en-GB" sz="1600" dirty="0">
                <a:solidFill>
                  <a:srgbClr val="333300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GB" sz="16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switch 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dirty="0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GB" sz="1600" dirty="0" err="1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errno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GB" sz="16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case 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E_USER_ERROR:</a:t>
            </a:r>
          </a:p>
          <a:p>
            <a:pPr>
              <a:defRPr/>
            </a:pP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Logger::log(E_ERROR, </a:t>
            </a:r>
            <a:r>
              <a:rPr lang="en-GB" sz="1600" dirty="0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GB" sz="1600" dirty="0" err="1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errstr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dirty="0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GB" sz="1600" dirty="0" err="1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errfile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dirty="0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GB" sz="1600" dirty="0" err="1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errline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GB" sz="16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GB" sz="16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require_once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(FULL_PATH_DEFAULT_ERROR_PAGE);</a:t>
            </a:r>
          </a:p>
          <a:p>
            <a:pPr>
              <a:defRPr/>
            </a:pPr>
            <a:r>
              <a:rPr lang="en-GB" sz="16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    exit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 </a:t>
            </a:r>
            <a:r>
              <a:rPr lang="en-GB" sz="1600" dirty="0">
                <a:solidFill>
                  <a:srgbClr val="818181"/>
                </a:solidFill>
                <a:latin typeface="Courier New" pitchFamily="49" charset="0"/>
                <a:cs typeface="Courier New" pitchFamily="49" charset="0"/>
              </a:rPr>
              <a:t>// control the flow</a:t>
            </a:r>
          </a:p>
          <a:p>
            <a:pPr>
              <a:defRPr/>
            </a:pPr>
            <a:r>
              <a:rPr lang="en-GB" sz="16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    break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sz="16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case 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E_WARNING:</a:t>
            </a:r>
          </a:p>
          <a:p>
            <a:pPr>
              <a:defRPr/>
            </a:pPr>
            <a:r>
              <a:rPr lang="en-GB" sz="16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case 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E_USER_WARNING:</a:t>
            </a:r>
          </a:p>
          <a:p>
            <a:pPr>
              <a:defRPr/>
            </a:pP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Logger::log(E_WARNING, </a:t>
            </a:r>
            <a:r>
              <a:rPr lang="en-GB" sz="1600" dirty="0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GB" sz="1600" dirty="0" err="1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errstr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dirty="0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GB" sz="1600" dirty="0" err="1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errfile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dirty="0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GB" sz="1600" dirty="0" err="1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errline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GB" sz="16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    break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sz="16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case 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E_NOTICE:</a:t>
            </a:r>
          </a:p>
          <a:p>
            <a:pPr>
              <a:defRPr/>
            </a:pPr>
            <a:r>
              <a:rPr lang="en-GB" sz="16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case 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E_USER_NOTICE:</a:t>
            </a:r>
          </a:p>
          <a:p>
            <a:pPr>
              <a:defRPr/>
            </a:pPr>
            <a:r>
              <a:rPr lang="it-IT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Logger::log(E_NOTICE, </a:t>
            </a:r>
            <a:r>
              <a:rPr lang="it-IT" sz="1600" dirty="0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$errstr</a:t>
            </a:r>
            <a:r>
              <a:rPr lang="it-IT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it-IT" sz="1600" dirty="0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$errfile</a:t>
            </a:r>
            <a:r>
              <a:rPr lang="it-IT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it-IT" sz="1600" dirty="0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$errline</a:t>
            </a:r>
            <a:r>
              <a:rPr lang="it-IT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GB" sz="16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    break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sz="16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default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defRPr/>
            </a:pPr>
            <a:r>
              <a:rPr lang="de-DE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Logger::log(</a:t>
            </a:r>
            <a:r>
              <a:rPr lang="de-DE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de-DE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$errstr</a:t>
            </a:r>
            <a:r>
              <a:rPr lang="de-DE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$errfile</a:t>
            </a:r>
            <a:r>
              <a:rPr lang="de-DE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>
                <a:solidFill>
                  <a:srgbClr val="660000"/>
                </a:solidFill>
                <a:latin typeface="Courier New" pitchFamily="49" charset="0"/>
                <a:cs typeface="Courier New" pitchFamily="49" charset="0"/>
              </a:rPr>
              <a:t>$errline</a:t>
            </a:r>
            <a:r>
              <a:rPr lang="de-DE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GB" sz="16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    break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GB" sz="1600" dirty="0">
                <a:solidFill>
                  <a:srgbClr val="33330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GB" sz="16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return true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GB" sz="1600" dirty="0">
                <a:solidFill>
                  <a:srgbClr val="818181"/>
                </a:solidFill>
                <a:latin typeface="Courier New" pitchFamily="49" charset="0"/>
                <a:cs typeface="Courier New" pitchFamily="49" charset="0"/>
              </a:rPr>
              <a:t>// Avoid running PHP's internal error handler</a:t>
            </a:r>
          </a:p>
          <a:p>
            <a:pPr>
              <a:defRPr/>
            </a:pPr>
            <a:r>
              <a:rPr lang="en-GB" sz="1600" dirty="0">
                <a:solidFill>
                  <a:srgbClr val="3333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GB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set_error_handler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dirty="0">
                <a:solidFill>
                  <a:srgbClr val="0083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GB" sz="1600" dirty="0" err="1">
                <a:solidFill>
                  <a:srgbClr val="008300"/>
                </a:solidFill>
                <a:latin typeface="Courier New" pitchFamily="49" charset="0"/>
                <a:cs typeface="Courier New" pitchFamily="49" charset="0"/>
              </a:rPr>
              <a:t>demoErrorHandler</a:t>
            </a:r>
            <a:r>
              <a:rPr lang="en-GB" sz="1600" dirty="0">
                <a:solidFill>
                  <a:srgbClr val="0083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  </a:t>
            </a:r>
            <a:endParaRPr lang="en-GB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0723" name="Title 1"/>
          <p:cNvSpPr>
            <a:spLocks noGrp="1"/>
          </p:cNvSpPr>
          <p:nvPr>
            <p:ph type="title"/>
          </p:nvPr>
        </p:nvSpPr>
        <p:spPr>
          <a:xfrm>
            <a:off x="1981200" y="274639"/>
            <a:ext cx="8229600" cy="706437"/>
          </a:xfrm>
        </p:spPr>
        <p:txBody>
          <a:bodyPr/>
          <a:lstStyle/>
          <a:p>
            <a:r>
              <a:rPr lang="en-GB" sz="3200" dirty="0">
                <a:solidFill>
                  <a:srgbClr val="3366FF"/>
                </a:solidFill>
                <a:latin typeface="Calibri" pitchFamily="34" charset="0"/>
                <a:cs typeface="Calibri" pitchFamily="34" charset="0"/>
              </a:rPr>
              <a:t>Acting on Errors (2)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5560" y="1340769"/>
            <a:ext cx="8013576" cy="5000625"/>
          </a:xfrm>
        </p:spPr>
        <p:txBody>
          <a:bodyPr/>
          <a:lstStyle/>
          <a:p>
            <a:pPr>
              <a:buFont typeface="Courier New" pitchFamily="49" charset="0"/>
              <a:buChar char="o"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What can the error handler do?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Display a safer message to the user</a:t>
            </a:r>
          </a:p>
          <a:p>
            <a:pPr marL="0" indent="0">
              <a:buNone/>
              <a:defRPr/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	- Insert the data into a DB</a:t>
            </a:r>
            <a:br>
              <a:rPr lang="en-GB" sz="2800" dirty="0">
                <a:latin typeface="Calibri" pitchFamily="34" charset="0"/>
                <a:cs typeface="Calibri" pitchFamily="34" charset="0"/>
              </a:rPr>
            </a:br>
            <a:r>
              <a:rPr lang="en-GB" sz="2800" dirty="0">
                <a:latin typeface="Calibri" pitchFamily="34" charset="0"/>
                <a:cs typeface="Calibri" pitchFamily="34" charset="0"/>
              </a:rPr>
              <a:t>	- Write to a file</a:t>
            </a:r>
            <a:br>
              <a:rPr lang="en-GB" sz="2800" dirty="0">
                <a:latin typeface="Calibri" pitchFamily="34" charset="0"/>
                <a:cs typeface="Calibri" pitchFamily="34" charset="0"/>
              </a:rPr>
            </a:br>
            <a:r>
              <a:rPr lang="en-GB" sz="2800" dirty="0">
                <a:latin typeface="Calibri" pitchFamily="34" charset="0"/>
                <a:cs typeface="Calibri" pitchFamily="34" charset="0"/>
              </a:rPr>
              <a:t>	- Send an email ...</a:t>
            </a:r>
          </a:p>
        </p:txBody>
      </p:sp>
      <p:sp>
        <p:nvSpPr>
          <p:cNvPr id="31747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50900"/>
          </a:xfrm>
        </p:spPr>
        <p:txBody>
          <a:bodyPr/>
          <a:lstStyle/>
          <a:p>
            <a:r>
              <a:rPr lang="en-GB" sz="3200" dirty="0">
                <a:solidFill>
                  <a:srgbClr val="3366FF"/>
                </a:solidFill>
                <a:latin typeface="Calibri" pitchFamily="34" charset="0"/>
                <a:cs typeface="Calibri" pitchFamily="34" charset="0"/>
              </a:rPr>
              <a:t>Acting on Errors (3)</a:t>
            </a:r>
          </a:p>
        </p:txBody>
      </p:sp>
      <p:sp>
        <p:nvSpPr>
          <p:cNvPr id="6" name="Rounded Rectangle 5"/>
          <p:cNvSpPr/>
          <p:nvPr/>
        </p:nvSpPr>
        <p:spPr bwMode="auto">
          <a:xfrm>
            <a:off x="3359696" y="4456195"/>
            <a:ext cx="5761038" cy="863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2400" b="1" dirty="0">
                <a:solidFill>
                  <a:schemeClr val="bg1"/>
                </a:solidFill>
                <a:latin typeface="Arial" charset="0"/>
              </a:rPr>
              <a:t>Remember that for non-fatal errors,</a:t>
            </a:r>
            <a:br>
              <a:rPr lang="en-GB" sz="2400" b="1" dirty="0">
                <a:solidFill>
                  <a:schemeClr val="bg1"/>
                </a:solidFill>
                <a:latin typeface="Arial" charset="0"/>
              </a:rPr>
            </a:br>
            <a:r>
              <a:rPr lang="en-GB" sz="2400" b="1" dirty="0">
                <a:solidFill>
                  <a:schemeClr val="bg1"/>
                </a:solidFill>
                <a:latin typeface="Arial" charset="0"/>
              </a:rPr>
              <a:t>the script will carry on running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01838" y="1484314"/>
            <a:ext cx="8208962" cy="35401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GB" sz="2800" b="1" dirty="0"/>
              <a:t>External errors will always occur at some point of an application's life-cycle</a:t>
            </a:r>
          </a:p>
          <a:p>
            <a:pPr>
              <a:defRPr/>
            </a:pPr>
            <a:r>
              <a:rPr lang="en-GB" sz="2800" dirty="0"/>
              <a:t>External errors which are not accounted for show up as bugs - likely causes are:</a:t>
            </a:r>
          </a:p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800" dirty="0"/>
              <a:t>Assuming a DB connection always succeeds</a:t>
            </a:r>
          </a:p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800" dirty="0"/>
              <a:t>Assuming a file is opened properly</a:t>
            </a:r>
          </a:p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800" dirty="0"/>
              <a:t>Assuming an XML file has the right format </a:t>
            </a:r>
          </a:p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800" dirty="0"/>
              <a:t>...</a:t>
            </a:r>
          </a:p>
        </p:txBody>
      </p:sp>
      <p:sp>
        <p:nvSpPr>
          <p:cNvPr id="32771" name="Title 1"/>
          <p:cNvSpPr txBox="1">
            <a:spLocks/>
          </p:cNvSpPr>
          <p:nvPr/>
        </p:nvSpPr>
        <p:spPr bwMode="auto">
          <a:xfrm>
            <a:off x="1981200" y="635001"/>
            <a:ext cx="8229600" cy="84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/>
            <a:r>
              <a:rPr lang="en-GB" sz="3200" dirty="0">
                <a:solidFill>
                  <a:srgbClr val="3366FF"/>
                </a:solidFill>
                <a:cs typeface="Calibri" pitchFamily="34" charset="0"/>
              </a:rPr>
              <a:t>Handling External Errors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1739900" y="5064126"/>
            <a:ext cx="8712200" cy="122396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2200" b="1" dirty="0">
                <a:latin typeface="Arial" charset="0"/>
              </a:rPr>
              <a:t>Assumptions about ‘events in’ or ‘states of’ the </a:t>
            </a:r>
            <a:br>
              <a:rPr lang="en-GB" sz="2200" b="1" dirty="0">
                <a:latin typeface="Arial" charset="0"/>
              </a:rPr>
            </a:br>
            <a:r>
              <a:rPr lang="en-GB" sz="2200" b="1" dirty="0">
                <a:latin typeface="Arial" charset="0"/>
              </a:rPr>
              <a:t>external world are always risky and bound to the occurrence </a:t>
            </a:r>
            <a:br>
              <a:rPr lang="en-GB" sz="2200" b="1" dirty="0">
                <a:latin typeface="Arial" charset="0"/>
              </a:rPr>
            </a:br>
            <a:r>
              <a:rPr lang="en-GB" sz="2200" b="1" dirty="0">
                <a:latin typeface="Arial" charset="0"/>
              </a:rPr>
              <a:t>of a counter-instance sooner or later (</a:t>
            </a:r>
            <a:r>
              <a:rPr lang="en-GB" sz="2200" b="1" dirty="0">
                <a:latin typeface="Arial" charset="0"/>
                <a:hlinkClick r:id="rId2"/>
              </a:rPr>
              <a:t>Murphy’s Law</a:t>
            </a:r>
            <a:r>
              <a:rPr lang="en-GB" sz="2200" b="1" dirty="0">
                <a:latin typeface="Arial" charset="0"/>
              </a:rPr>
              <a:t>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800225" y="728663"/>
            <a:ext cx="8688388" cy="755650"/>
          </a:xfrm>
          <a:prstGeom prst="rect">
            <a:avLst/>
          </a:prstGeom>
          <a:solidFill>
            <a:srgbClr val="FFA7A7"/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fh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= @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fopen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($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myfile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, 'w');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fh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-&gt;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fwrite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('save the rhinos!');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800225" y="1557338"/>
            <a:ext cx="8688388" cy="2303462"/>
          </a:xfrm>
          <a:prstGeom prst="rect">
            <a:avLst/>
          </a:prstGeom>
          <a:solidFill>
            <a:srgbClr val="B3FFD5"/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fh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fopen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($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myfile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, 'w');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if ($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fh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    $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fh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-&gt;write('save the rhinos!');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} else {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redirectToErrorPage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('Failed opening an important file');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    die(1);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1800225" y="4056064"/>
            <a:ext cx="8688388" cy="720725"/>
          </a:xfrm>
          <a:prstGeom prst="rect">
            <a:avLst/>
          </a:prstGeom>
          <a:solidFill>
            <a:srgbClr val="FFA7A7"/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db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mysql_connect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defRPr/>
            </a:pPr>
            <a:r>
              <a:rPr lang="en-GB" dirty="0" err="1">
                <a:latin typeface="Courier New" pitchFamily="49" charset="0"/>
                <a:cs typeface="Courier New" pitchFamily="49" charset="0"/>
              </a:rPr>
              <a:t>mysql_query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('SELECT * FROM users WHERE id=18');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800225" y="4868864"/>
            <a:ext cx="8688388" cy="1728787"/>
          </a:xfrm>
          <a:prstGeom prst="rect">
            <a:avLst/>
          </a:prstGeom>
          <a:solidFill>
            <a:srgbClr val="9FFFCA"/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db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mysql_connect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if (! $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db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redirectToErrorPage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('Could not connect to the database!');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    die(1);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>
              <a:defRPr/>
            </a:pPr>
            <a:r>
              <a:rPr lang="en-GB" dirty="0" err="1">
                <a:latin typeface="Courier New" pitchFamily="49" charset="0"/>
                <a:cs typeface="Courier New" pitchFamily="49" charset="0"/>
              </a:rPr>
              <a:t>mysql_query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('SELECT * FROM users WHERE </a:t>
            </a:r>
            <a:r>
              <a:rPr lang="en-GB" dirty="0"/>
              <a:t>id=18', $</a:t>
            </a:r>
            <a:r>
              <a:rPr lang="en-GB" dirty="0" err="1"/>
              <a:t>db</a:t>
            </a:r>
            <a:r>
              <a:rPr lang="en-GB" dirty="0"/>
              <a:t>);</a:t>
            </a:r>
            <a:endParaRPr lang="en-GB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3798" name="Title 1"/>
          <p:cNvSpPr txBox="1">
            <a:spLocks/>
          </p:cNvSpPr>
          <p:nvPr/>
        </p:nvSpPr>
        <p:spPr bwMode="auto">
          <a:xfrm>
            <a:off x="1833563" y="82551"/>
            <a:ext cx="822960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/>
            <a:r>
              <a:rPr lang="en-GB" sz="3200" dirty="0">
                <a:solidFill>
                  <a:srgbClr val="3366FF"/>
                </a:solidFill>
                <a:cs typeface="Calibri" pitchFamily="34" charset="0"/>
              </a:rPr>
              <a:t>Handling External Errors (2)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ChangeArrowheads="1"/>
          </p:cNvSpPr>
          <p:nvPr/>
        </p:nvSpPr>
        <p:spPr bwMode="auto">
          <a:xfrm>
            <a:off x="1847850" y="1182688"/>
            <a:ext cx="8496300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sz="2800" dirty="0">
                <a:solidFill>
                  <a:srgbClr val="C00000"/>
                </a:solidFill>
                <a:cs typeface="Calibri" pitchFamily="34" charset="0"/>
              </a:rPr>
              <a:t>An Exception can be thought of as a flow-control structure, or as an error control mechanism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GB" sz="2800" dirty="0">
                <a:cs typeface="Calibri" pitchFamily="34" charset="0"/>
              </a:rPr>
              <a:t>Exceptions should be used to handle logic errors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GB" sz="2800" dirty="0">
                <a:cs typeface="Calibri" pitchFamily="34" charset="0"/>
              </a:rPr>
              <a:t>Exceptions may be considered as any other type of </a:t>
            </a:r>
            <a:r>
              <a:rPr lang="en-GB" sz="2800" dirty="0" err="1">
                <a:cs typeface="Calibri" pitchFamily="34" charset="0"/>
              </a:rPr>
              <a:t>flowcontrol</a:t>
            </a:r>
            <a:r>
              <a:rPr lang="en-GB" sz="2800" dirty="0">
                <a:cs typeface="Calibri" pitchFamily="34" charset="0"/>
              </a:rPr>
              <a:t> syntax (such as </a:t>
            </a:r>
            <a:r>
              <a:rPr lang="en-GB" sz="2800" i="1" dirty="0">
                <a:cs typeface="Calibri" pitchFamily="34" charset="0"/>
              </a:rPr>
              <a:t>if-else</a:t>
            </a:r>
            <a:r>
              <a:rPr lang="en-GB" sz="2800" dirty="0">
                <a:cs typeface="Calibri" pitchFamily="34" charset="0"/>
              </a:rPr>
              <a:t>, </a:t>
            </a:r>
            <a:r>
              <a:rPr lang="en-GB" sz="2800" i="1" dirty="0">
                <a:cs typeface="Calibri" pitchFamily="34" charset="0"/>
              </a:rPr>
              <a:t>while </a:t>
            </a:r>
            <a:r>
              <a:rPr lang="en-GB" sz="2800" dirty="0">
                <a:cs typeface="Calibri" pitchFamily="34" charset="0"/>
              </a:rPr>
              <a:t>and </a:t>
            </a:r>
            <a:r>
              <a:rPr lang="en-GB" sz="2800" i="1" dirty="0" err="1">
                <a:cs typeface="Calibri" pitchFamily="34" charset="0"/>
              </a:rPr>
              <a:t>foreach</a:t>
            </a:r>
            <a:r>
              <a:rPr lang="en-GB" sz="2800" dirty="0">
                <a:cs typeface="Calibri" pitchFamily="34" charset="0"/>
              </a:rPr>
              <a:t>)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GB" sz="2800" dirty="0">
                <a:cs typeface="Calibri" pitchFamily="34" charset="0"/>
              </a:rPr>
              <a:t>Exceptions are slower and consume more memory than other flow-control syntaxes, therefore it is not  recommended to use it as a flow-control structure per se</a:t>
            </a:r>
          </a:p>
          <a:p>
            <a:endParaRPr lang="en-GB" sz="2800" dirty="0">
              <a:cs typeface="Calibri" pitchFamily="34" charset="0"/>
            </a:endParaRPr>
          </a:p>
          <a:p>
            <a:r>
              <a:rPr lang="en-GB" sz="2800" b="1" dirty="0">
                <a:solidFill>
                  <a:srgbClr val="C00000"/>
                </a:solidFill>
                <a:cs typeface="Calibri" pitchFamily="34" charset="0"/>
              </a:rPr>
              <a:t>Unhandled Exceptions are fatal errors</a:t>
            </a:r>
          </a:p>
        </p:txBody>
      </p:sp>
      <p:sp>
        <p:nvSpPr>
          <p:cNvPr id="34819" name="Title 1"/>
          <p:cNvSpPr txBox="1">
            <a:spLocks/>
          </p:cNvSpPr>
          <p:nvPr/>
        </p:nvSpPr>
        <p:spPr bwMode="auto">
          <a:xfrm>
            <a:off x="1847850" y="398463"/>
            <a:ext cx="82296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/>
            <a:r>
              <a:rPr lang="en-GB" sz="3200" dirty="0">
                <a:solidFill>
                  <a:srgbClr val="3366FF"/>
                </a:solidFill>
                <a:cs typeface="Calibri" pitchFamily="34" charset="0"/>
              </a:rPr>
              <a:t>Exceptions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>
            <a:spLocks noChangeArrowheads="1"/>
          </p:cNvSpPr>
          <p:nvPr/>
        </p:nvSpPr>
        <p:spPr bwMode="auto">
          <a:xfrm>
            <a:off x="2135189" y="1412875"/>
            <a:ext cx="79216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sz="2800">
                <a:cs typeface="Calibri" pitchFamily="34" charset="0"/>
              </a:rPr>
              <a:t>Exceptions are classes and therefore you may extend them to fit your needs or serve as markers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2316164" y="2852738"/>
            <a:ext cx="7559675" cy="143986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DataBaseException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extends Exception {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MathException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extends Exception {</a:t>
            </a:r>
          </a:p>
          <a:p>
            <a:pPr>
              <a:defRPr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2155825" y="4797425"/>
            <a:ext cx="7920038" cy="93503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2400" b="1" dirty="0">
                <a:solidFill>
                  <a:schemeClr val="bg1"/>
                </a:solidFill>
                <a:latin typeface="Arial" charset="0"/>
              </a:rPr>
              <a:t>Will make more sense in the context </a:t>
            </a:r>
            <a:br>
              <a:rPr lang="en-GB" sz="2400" b="1" dirty="0">
                <a:solidFill>
                  <a:schemeClr val="bg1"/>
                </a:solidFill>
                <a:latin typeface="Arial" charset="0"/>
              </a:rPr>
            </a:br>
            <a:r>
              <a:rPr lang="en-GB" sz="2400" b="1" dirty="0">
                <a:solidFill>
                  <a:schemeClr val="bg1"/>
                </a:solidFill>
                <a:latin typeface="Arial" charset="0"/>
              </a:rPr>
              <a:t> of object-oriented </a:t>
            </a:r>
            <a:r>
              <a:rPr lang="en-GB" sz="2400" b="1" dirty="0" err="1">
                <a:solidFill>
                  <a:schemeClr val="bg1"/>
                </a:solidFill>
                <a:latin typeface="Arial" charset="0"/>
              </a:rPr>
              <a:t>php</a:t>
            </a:r>
            <a:endParaRPr lang="en-GB" sz="2400" b="1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35845" name="Title 1"/>
          <p:cNvSpPr txBox="1">
            <a:spLocks/>
          </p:cNvSpPr>
          <p:nvPr/>
        </p:nvSpPr>
        <p:spPr bwMode="auto">
          <a:xfrm>
            <a:off x="1847850" y="398463"/>
            <a:ext cx="82296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/>
            <a:r>
              <a:rPr lang="en-GB" sz="3200" dirty="0">
                <a:solidFill>
                  <a:srgbClr val="3366FF"/>
                </a:solidFill>
                <a:cs typeface="Calibri" pitchFamily="34" charset="0"/>
              </a:rPr>
              <a:t>Exceptions (2)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63552" y="1484784"/>
            <a:ext cx="8250532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GB" sz="2800" dirty="0">
                <a:cs typeface="Calibri" pitchFamily="34" charset="0"/>
              </a:rPr>
              <a:t>Terminology:</a:t>
            </a:r>
          </a:p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800" i="1" dirty="0">
                <a:solidFill>
                  <a:srgbClr val="C00000"/>
                </a:solidFill>
                <a:cs typeface="Calibri" pitchFamily="34" charset="0"/>
              </a:rPr>
              <a:t>throw</a:t>
            </a:r>
            <a:r>
              <a:rPr lang="en-GB" sz="2800" i="1" dirty="0">
                <a:cs typeface="Calibri" pitchFamily="34" charset="0"/>
              </a:rPr>
              <a:t> </a:t>
            </a:r>
            <a:r>
              <a:rPr lang="en-GB" sz="2800" dirty="0">
                <a:cs typeface="Calibri" pitchFamily="34" charset="0"/>
              </a:rPr>
              <a:t>– the act of publishing an Exception</a:t>
            </a:r>
          </a:p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800" i="1" dirty="0">
                <a:solidFill>
                  <a:srgbClr val="C00000"/>
                </a:solidFill>
                <a:cs typeface="Calibri" pitchFamily="34" charset="0"/>
              </a:rPr>
              <a:t>try </a:t>
            </a:r>
            <a:r>
              <a:rPr lang="en-GB" sz="2800" dirty="0">
                <a:solidFill>
                  <a:srgbClr val="C00000"/>
                </a:solidFill>
                <a:cs typeface="Calibri" pitchFamily="34" charset="0"/>
              </a:rPr>
              <a:t>block</a:t>
            </a:r>
            <a:r>
              <a:rPr lang="en-GB" sz="2800" dirty="0">
                <a:cs typeface="Calibri" pitchFamily="34" charset="0"/>
              </a:rPr>
              <a:t> – a segment of the code which may have an exception thrown in it</a:t>
            </a:r>
          </a:p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800" i="1" dirty="0">
                <a:solidFill>
                  <a:srgbClr val="C00000"/>
                </a:solidFill>
                <a:cs typeface="Calibri" pitchFamily="34" charset="0"/>
              </a:rPr>
              <a:t>catch </a:t>
            </a:r>
            <a:r>
              <a:rPr lang="en-GB" sz="2800" dirty="0">
                <a:solidFill>
                  <a:srgbClr val="C00000"/>
                </a:solidFill>
                <a:cs typeface="Calibri" pitchFamily="34" charset="0"/>
              </a:rPr>
              <a:t>block</a:t>
            </a:r>
            <a:r>
              <a:rPr lang="en-GB" sz="2800" dirty="0">
                <a:cs typeface="Calibri" pitchFamily="34" charset="0"/>
              </a:rPr>
              <a:t> – a segment of the code which handles an exception if one happens</a:t>
            </a:r>
          </a:p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800" i="1" strike="sngStrike" dirty="0">
                <a:solidFill>
                  <a:srgbClr val="C00000"/>
                </a:solidFill>
                <a:cs typeface="Calibri" pitchFamily="34" charset="0"/>
              </a:rPr>
              <a:t>finally</a:t>
            </a:r>
            <a:r>
              <a:rPr lang="en-GB" sz="2800" i="1" dirty="0">
                <a:cs typeface="Calibri" pitchFamily="34" charset="0"/>
              </a:rPr>
              <a:t> </a:t>
            </a:r>
            <a:r>
              <a:rPr lang="en-GB" sz="2800" dirty="0">
                <a:cs typeface="Calibri" pitchFamily="34" charset="0"/>
              </a:rPr>
              <a:t>– is </a:t>
            </a:r>
            <a:r>
              <a:rPr lang="en-GB" sz="2800" b="1" dirty="0">
                <a:cs typeface="Calibri" pitchFamily="34" charset="0"/>
              </a:rPr>
              <a:t>not </a:t>
            </a:r>
            <a:r>
              <a:rPr lang="en-GB" sz="2800" dirty="0">
                <a:cs typeface="Calibri" pitchFamily="34" charset="0"/>
              </a:rPr>
              <a:t>available in PHP, but common in other languages</a:t>
            </a:r>
          </a:p>
        </p:txBody>
      </p:sp>
      <p:sp>
        <p:nvSpPr>
          <p:cNvPr id="36867" name="Title 1"/>
          <p:cNvSpPr txBox="1">
            <a:spLocks/>
          </p:cNvSpPr>
          <p:nvPr/>
        </p:nvSpPr>
        <p:spPr bwMode="auto">
          <a:xfrm>
            <a:off x="1847850" y="427038"/>
            <a:ext cx="82296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/>
            <a:r>
              <a:rPr lang="en-GB" sz="3200" dirty="0">
                <a:solidFill>
                  <a:srgbClr val="3366FF"/>
                </a:solidFill>
                <a:cs typeface="Calibri" pitchFamily="34" charset="0"/>
              </a:rPr>
              <a:t>Exceptions (3)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2424113" y="1484313"/>
            <a:ext cx="7632700" cy="35290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try {</a:t>
            </a:r>
          </a:p>
          <a:p>
            <a:pPr>
              <a:defRPr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    if (0 == $denominator) {</a:t>
            </a:r>
          </a:p>
          <a:p>
            <a:pPr>
              <a:defRPr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        throw new Exception('Zero denominator');</a:t>
            </a:r>
          </a:p>
          <a:p>
            <a:pPr>
              <a:defRPr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    echo ($numerator / $denominator);</a:t>
            </a:r>
          </a:p>
          <a:p>
            <a:pPr>
              <a:defRPr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} catch (Exception $e) {</a:t>
            </a:r>
          </a:p>
          <a:p>
            <a:pPr>
              <a:defRPr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    echo 'You can not divide by zero';</a:t>
            </a:r>
          </a:p>
          <a:p>
            <a:pPr>
              <a:defRPr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    die; // make sure the script stops</a:t>
            </a:r>
          </a:p>
          <a:p>
            <a:pPr>
              <a:defRPr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7891" name="Title 1"/>
          <p:cNvSpPr txBox="1">
            <a:spLocks/>
          </p:cNvSpPr>
          <p:nvPr/>
        </p:nvSpPr>
        <p:spPr bwMode="auto">
          <a:xfrm>
            <a:off x="1847850" y="438151"/>
            <a:ext cx="822960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/>
            <a:r>
              <a:rPr lang="en-GB" sz="3200" dirty="0">
                <a:solidFill>
                  <a:srgbClr val="3366FF"/>
                </a:solidFill>
                <a:cs typeface="Calibri" pitchFamily="34" charset="0"/>
              </a:rPr>
              <a:t>Exceptions (4)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 txBox="1">
            <a:spLocks/>
          </p:cNvSpPr>
          <p:nvPr/>
        </p:nvSpPr>
        <p:spPr bwMode="auto">
          <a:xfrm>
            <a:off x="1847850" y="620713"/>
            <a:ext cx="822960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/>
            <a:r>
              <a:rPr lang="en-GB" sz="3200" dirty="0">
                <a:solidFill>
                  <a:srgbClr val="3366FF"/>
                </a:solidFill>
                <a:cs typeface="Calibri" pitchFamily="34" charset="0"/>
              </a:rPr>
              <a:t>Default Exception Handler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2055814" y="1484314"/>
            <a:ext cx="8281987" cy="31083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GB" sz="2800" dirty="0">
                <a:solidFill>
                  <a:srgbClr val="C00000"/>
                </a:solidFill>
              </a:rPr>
              <a:t>An user-defined top-level Exception Handler which will handle any uncaught Exception</a:t>
            </a:r>
          </a:p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800" dirty="0"/>
              <a:t>Unlike a </a:t>
            </a:r>
            <a:r>
              <a:rPr lang="en-GB" sz="2800" i="1" dirty="0"/>
              <a:t>try-catch </a:t>
            </a:r>
            <a:r>
              <a:rPr lang="en-GB" sz="2800" dirty="0"/>
              <a:t>block, after handling an Exception </a:t>
            </a:r>
            <a:br>
              <a:rPr lang="en-GB" sz="2800" dirty="0"/>
            </a:br>
            <a:r>
              <a:rPr lang="en-GB" sz="2800" dirty="0"/>
              <a:t>with the default error handler, the script halts</a:t>
            </a:r>
          </a:p>
          <a:p>
            <a:pPr marL="457200" indent="-457200">
              <a:buFont typeface="Courier New" pitchFamily="49" charset="0"/>
              <a:buChar char="o"/>
              <a:defRPr/>
            </a:pPr>
            <a:r>
              <a:rPr lang="en-GB" sz="2800" dirty="0"/>
              <a:t>Note that the default exception handler can not catch all uncaught exceptions which may happen in your code (</a:t>
            </a:r>
            <a:r>
              <a:rPr lang="en-GB" sz="2800" i="1" dirty="0"/>
              <a:t>think about why?</a:t>
            </a:r>
            <a:r>
              <a:rPr lang="en-GB" sz="2800" dirty="0"/>
              <a:t>)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033588" y="4797426"/>
            <a:ext cx="8208962" cy="15843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myDefaultExceptionHandler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($exception) {</a:t>
            </a:r>
          </a:p>
          <a:p>
            <a:pPr>
              <a:defRPr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// do something about it</a:t>
            </a:r>
          </a:p>
          <a:p>
            <a:pPr>
              <a:defRPr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set_exception_handler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('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myDefaultExceptionHandler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');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2207568" y="894060"/>
            <a:ext cx="7776864" cy="54152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0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026" name="Picture 2" descr="http://2.bp.blogspot.com/-gg2fV2OqTOw/U7EffKbS_8I/AAAAAAAAAyk/hq1Qf_3OJxw/s1600/classException__inherit__graph_tree+girls+lank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124744"/>
            <a:ext cx="7191375" cy="495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 bwMode="auto">
          <a:xfrm>
            <a:off x="1854499" y="260648"/>
            <a:ext cx="822960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/>
            <a:r>
              <a:rPr lang="en-GB" sz="3200" dirty="0">
                <a:solidFill>
                  <a:srgbClr val="3366FF"/>
                </a:solidFill>
                <a:cs typeface="Calibri" pitchFamily="34" charset="0"/>
              </a:rPr>
              <a:t>PHP Exception Types</a:t>
            </a:r>
          </a:p>
        </p:txBody>
      </p:sp>
    </p:spTree>
    <p:extLst>
      <p:ext uri="{BB962C8B-B14F-4D97-AF65-F5344CB8AC3E}">
        <p14:creationId xmlns:p14="http://schemas.microsoft.com/office/powerpoint/2010/main" val="32282100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/>
          <p:cNvSpPr>
            <a:spLocks noChangeArrowheads="1"/>
          </p:cNvSpPr>
          <p:nvPr/>
        </p:nvSpPr>
        <p:spPr bwMode="auto">
          <a:xfrm>
            <a:off x="2030412" y="1340768"/>
            <a:ext cx="8314060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GB" sz="2800" dirty="0"/>
              <a:t>Errors happen, but it doesn't mean they should be</a:t>
            </a:r>
          </a:p>
          <a:p>
            <a:r>
              <a:rPr lang="en-GB" sz="2800" dirty="0"/>
              <a:t>	ignored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GB" sz="2800" dirty="0"/>
              <a:t>Watch out for external errors or they may turn to bugs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GB" sz="2800" dirty="0"/>
              <a:t>Use Exceptions to better handle errors and logic flaws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GB" sz="2800" dirty="0"/>
              <a:t>Use Exceptions to distinguish between different error cases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GB" sz="2800" dirty="0"/>
              <a:t>Have a default error handler and a default exception handler, even if you are sure that everything is covered</a:t>
            </a:r>
          </a:p>
        </p:txBody>
      </p:sp>
      <p:sp>
        <p:nvSpPr>
          <p:cNvPr id="39939" name="Title 1"/>
          <p:cNvSpPr txBox="1">
            <a:spLocks/>
          </p:cNvSpPr>
          <p:nvPr/>
        </p:nvSpPr>
        <p:spPr bwMode="auto">
          <a:xfrm>
            <a:off x="1847850" y="432547"/>
            <a:ext cx="82296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/>
            <a:r>
              <a:rPr lang="en-GB" sz="3200" dirty="0">
                <a:solidFill>
                  <a:srgbClr val="3366FF"/>
                </a:solidFill>
                <a:cs typeface="Calibri" pitchFamily="34" charset="0"/>
              </a:rPr>
              <a:t>Conclusions:</a:t>
            </a:r>
            <a:r>
              <a:rPr lang="en-GB" sz="3200" b="1" dirty="0">
                <a:solidFill>
                  <a:srgbClr val="3366FF"/>
                </a:solidFill>
                <a:cs typeface="Calibri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376" y="607660"/>
            <a:ext cx="7836103" cy="6060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037185" y="97468"/>
            <a:ext cx="80064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dirty="0">
                <a:solidFill>
                  <a:srgbClr val="3366FF"/>
                </a:solidFill>
              </a:rPr>
              <a:t>example script using </a:t>
            </a:r>
            <a:r>
              <a:rPr lang="en-GB" sz="2800" dirty="0" err="1">
                <a:solidFill>
                  <a:srgbClr val="3366FF"/>
                </a:solidFill>
              </a:rPr>
              <a:t>pdo</a:t>
            </a:r>
            <a:r>
              <a:rPr lang="en-GB" sz="2800" dirty="0">
                <a:solidFill>
                  <a:srgbClr val="3366FF"/>
                </a:solidFill>
              </a:rPr>
              <a:t> with </a:t>
            </a:r>
            <a:r>
              <a:rPr lang="en-GB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try{}</a:t>
            </a:r>
            <a:r>
              <a:rPr lang="en-GB" sz="2800" dirty="0">
                <a:solidFill>
                  <a:srgbClr val="C00000"/>
                </a:solidFill>
              </a:rPr>
              <a:t> </a:t>
            </a:r>
            <a:r>
              <a:rPr lang="en-GB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catch{}</a:t>
            </a:r>
            <a:r>
              <a:rPr lang="en-GB" sz="1200" b="1" dirty="0">
                <a:solidFill>
                  <a:srgbClr val="33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800" dirty="0">
                <a:solidFill>
                  <a:srgbClr val="3366FF"/>
                </a:solidFill>
              </a:rPr>
              <a:t>block</a:t>
            </a:r>
          </a:p>
        </p:txBody>
      </p:sp>
      <p:pic>
        <p:nvPicPr>
          <p:cNvPr id="6" name="Picture 5" descr="http://habr.habrastorage.org/post_images/2d0/154/a4b/2d0154a4bc396ea264af74833f19c11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397" y="6003796"/>
            <a:ext cx="782221" cy="664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943873" y="6303580"/>
            <a:ext cx="14825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hlinkClick r:id="rId4"/>
              </a:rPr>
              <a:t>run example</a:t>
            </a:r>
            <a:endParaRPr lang="en-GB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600057" y="6303580"/>
            <a:ext cx="27464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hlinkClick r:id="rId5"/>
              </a:rPr>
              <a:t>run example (with error)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57867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936" y="2492896"/>
            <a:ext cx="8064896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384362" y="548680"/>
            <a:ext cx="3312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dirty="0">
                <a:solidFill>
                  <a:srgbClr val="3366FF"/>
                </a:solidFill>
              </a:rPr>
              <a:t>actual </a:t>
            </a:r>
            <a:r>
              <a:rPr lang="en-GB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catch{}</a:t>
            </a:r>
            <a:r>
              <a:rPr lang="en-GB" sz="1200" b="1" dirty="0">
                <a:solidFill>
                  <a:srgbClr val="33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800" dirty="0">
                <a:solidFill>
                  <a:srgbClr val="3366FF"/>
                </a:solidFill>
              </a:rPr>
              <a:t>block</a:t>
            </a:r>
          </a:p>
        </p:txBody>
      </p:sp>
      <p:pic>
        <p:nvPicPr>
          <p:cNvPr id="2052" name="Picture 4" descr="http://api.ning.com/files/hf-ryTpxXBOw5k723soTiKLUSrpHDfZbJUP0pOZUitrxf*17eIEixa3kcT-Y*B6GUGNJmUKWVlGfupdIMyenSKptW2cMCjZ9/artworks000031348369ailjzvcrop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305" y="4293096"/>
            <a:ext cx="1357227" cy="2081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upload.wikimedia.org/wikipedia/commons/thumb/8/85/Smiley.svg/2000px-Smiley.sv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487" y="548680"/>
            <a:ext cx="539355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781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9525" cap="flat" cmpd="sng" algn="ctr">
          <a:solidFill>
            <a:schemeClr val="bg1">
              <a:lumMod val="9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>
          <a:defRPr kumimoji="0" sz="2000" b="0" i="0" u="none" strike="noStrike" cap="none" normalizeH="0" baseline="0" dirty="0" smtClean="0">
            <a:ln>
              <a:noFill/>
            </a:ln>
            <a:effectLst/>
            <a:latin typeface="Courier New" pitchFamily="49" charset="0"/>
            <a:cs typeface="Courier New" pitchFamily="49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Metadata/LabelInfo.xml><?xml version="1.0" encoding="utf-8"?>
<clbl:labelList xmlns:clbl="http://schemas.microsoft.com/office/2020/mipLabelMetadata">
  <clbl:label id="{fc0de803-e079-4d4f-96bc-6f3b3b6923e3}" enabled="1" method="Privileged" siteId="{07ef1208-413c-4b5e-9cdd-64ef305754f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1009</Words>
  <Application>Microsoft Office PowerPoint</Application>
  <PresentationFormat>Widescreen</PresentationFormat>
  <Paragraphs>213</Paragraphs>
  <Slides>28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Office Theme</vt:lpstr>
      <vt:lpstr>Default Design</vt:lpstr>
      <vt:lpstr> UFCFV4-30-2 Data, Schemas &amp; Applications</vt:lpstr>
      <vt:lpstr>PowerPoint Presentation</vt:lpstr>
      <vt:lpstr>Error Types</vt:lpstr>
      <vt:lpstr>PHP’s Internal Handlers</vt:lpstr>
      <vt:lpstr>PHP’s Internal Handlers (2)</vt:lpstr>
      <vt:lpstr>PHP’s Internal Handlers Example</vt:lpstr>
      <vt:lpstr>User Triggered Error</vt:lpstr>
      <vt:lpstr>Additional Error Types</vt:lpstr>
      <vt:lpstr>Error Reporting Configuration Settings</vt:lpstr>
      <vt:lpstr>Handling Errors</vt:lpstr>
      <vt:lpstr>Displaying Errors</vt:lpstr>
      <vt:lpstr>Logging Errors</vt:lpstr>
      <vt:lpstr>Ignoring Errors</vt:lpstr>
      <vt:lpstr>PowerPoint Presentation</vt:lpstr>
      <vt:lpstr>Acting on Errors</vt:lpstr>
      <vt:lpstr>Acting on Errors (2)</vt:lpstr>
      <vt:lpstr>Acting on Errors (3)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PHP (2) User Defined Functions, File Input/Output, DB Connectivity</dc:title>
  <dc:creator>pc</dc:creator>
  <cp:lastModifiedBy>Prakash Chatterjee</cp:lastModifiedBy>
  <cp:revision>80</cp:revision>
  <dcterms:created xsi:type="dcterms:W3CDTF">2011-10-11T18:19:40Z</dcterms:created>
  <dcterms:modified xsi:type="dcterms:W3CDTF">2026-03-02T17:58:49Z</dcterms:modified>
</cp:coreProperties>
</file>